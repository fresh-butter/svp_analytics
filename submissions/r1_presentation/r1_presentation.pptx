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77" r:id="rId5"/>
    <p:sldId id="259" r:id="rId6"/>
    <p:sldId id="268" r:id="rId7"/>
    <p:sldId id="269" r:id="rId8"/>
    <p:sldId id="270" r:id="rId9"/>
    <p:sldId id="271" r:id="rId10"/>
    <p:sldId id="272" r:id="rId11"/>
    <p:sldId id="276" r:id="rId12"/>
    <p:sldId id="273" r:id="rId13"/>
    <p:sldId id="274" r:id="rId14"/>
    <p:sldId id="278" r:id="rId15"/>
    <p:sldId id="275" r:id="rId16"/>
    <p:sldId id="279"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5FD47B-E7CA-A9FA-6AB0-BBFC63FFB1FF}" v="10" dt="2026-03-10T03:49:42.704"/>
    <p1510:client id="{811FD0F6-CFF7-4C8E-BA10-5EDBB08016E0}" v="20" dt="2026-03-09T21:41:20.9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7" d="100"/>
          <a:sy n="87" d="100"/>
        </p:scale>
        <p:origin x="1760" y="52"/>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20:04:12.48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238 20,'3'-1,"-1"-1,1 0,1 0,-1 1,0 0,0 0,0 0,1 0,-1 0,0 0,1 1,-1 0,1 0,4 0,4-1,108-4,0 5,141 19,-191-9,-32-4,66 1,-35-7,88 12,-119-8,-4-1,-62-1,-13-2,-183-9,100-1,-137 6,157 4,-406 1,489-1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9T20:04:18.3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9 0,'261'18,"-110"-5,12 0,136 6,-282-17,-17-2,0 0,0 0,0 0,0 0,0 0,0 0,1 0,-1 0,0 0,0 1,0-1,0 0,0 0,0 0,0 0,0 0,0 0,1 0,-1 0,0 1,0-1,0 0,0 0,0 0,0 0,0 0,0 1,0-1,0 0,0 0,0 0,0 0,0 0,0 0,0 1,0-1,0 0,0 0,0 0,0 0,0 0,-1 0,1 1,0-1,0 0,0 0,0 0,-22 15,15-11,-2 1,0-1,-1 0,0 0,0-1,0 0,0-1,-11 2,-77 1,72-5,-321 0,36-1,858 10,4 20,-523-28,35 2,-46-3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20:04:36.283"/>
    </inkml:context>
    <inkml:brush xml:id="br0">
      <inkml:brushProperty name="width" value="0.35" units="cm"/>
      <inkml:brushProperty name="height" value="0.35" units="cm"/>
      <inkml:brushProperty name="color" value="#FFFFFF"/>
    </inkml:brush>
  </inkml:definitions>
  <inkml:trace contextRef="#ctx0" brushRef="#br0">2788 164 24575,'-219'2'0,"-235"-4"0,130-19 0,266 11 0,41 7 0,-1 0 0,-19 0 0,-620 1 0,316 4 0,-321-2 0,1202 15 0,-452-12 0,-50-3 0,68 9 0,200 23 0,4-29 0,-279-5 0,0-2 0,39-8 0,31-5 0,211-3 0,-218 13 0,47-6 0,-75 6 0,0 3 0,76 6 0,-40-1 0,-79-2 0,0-1 0,23-5 0,-23 2 0,44-1 0,-47 5 0,34-7 0,7 0 0,52-3 0,50-2 0,-143 12 0,1-1 0,20-5 0,-19 3 0,33-2 0,52 6 0,-42 0 0,70-7 0,8-4 0,172 8 0,-158 5 0,92-3 0,274 2 0,-258 20 0,-208-13 0,-26-3 0,32 1 0,-28-5 0,261 18 0,41 4 0,3-24 0,-133 0 0,-78-1 0,144 4 0,-4 18 0,-154-11 0,111 14 0,195 7 0,-291-25 0,144 22 0,-134-10 0,-32-6 0,354 46 0,-391-46 0,1-3 0,79-2 0,-79-3 0,132 22 0,-27-2 0,286 20 0,188-6 0,-505-30 0,143-2-1365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20:04:41.293"/>
    </inkml:context>
    <inkml:brush xml:id="br0">
      <inkml:brushProperty name="width" value="0.35" units="cm"/>
      <inkml:brushProperty name="height" value="0.35" units="cm"/>
      <inkml:brushProperty name="color" value="#FFFFFF"/>
    </inkml:brush>
  </inkml:definitions>
  <inkml:trace contextRef="#ctx0" brushRef="#br0">0 184 24575,'39'0'0,"-9"1"0,0-2 0,0 0 0,54-11 0,-53 7 0,1 1 0,-1 2 0,1 1 0,32 3 0,-3 0 0,1748-1 0,-943-2 0,-735-10 0,-6 0 0,-94 9 0,-1-1 0,36-8 0,21-4 0,-5 7 0,141-17 0,-116 13 0,1 6 0,121 6 0,-82 3 0,-97-3 0,41 1 0,0-4 0,93-15 0,182-23-1365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9T20:04:46.323"/>
    </inkml:context>
    <inkml:brush xml:id="br0">
      <inkml:brushProperty name="width" value="0.35" units="cm"/>
      <inkml:brushProperty name="height" value="0.35" units="cm"/>
      <inkml:brushProperty name="color" value="#FFFFFF"/>
    </inkml:brush>
  </inkml:definitions>
  <inkml:trace contextRef="#ctx0" brushRef="#br0">0 102 24575,'27'0'0,"19"1"0,-1-3 0,62-9 0,-58 5 0,0 2 0,91 5 0,-52 1 0,337-2 0,-395-2 0,-1-1 0,0-2 0,0-1 0,31-10 0,-32 8 0,2 1 0,-1 1 0,53-3 0,16-1 0,-64 5 0,35-1 0,326 7 0,-289 7 0,-31 0 0,264 18 0,-133-8 0,-110-8 0,63 3 0,61-4 0,21 1 0,-50 0 0,1 1 0,-174-11 0,34 7 0,2 0 0,78 3 0,184 6 0,-293-15 0,41 7 0,6 1 0,41-2 0,248 8 0,-273-12 0,85 15 0,-84-7 0,93-1 0,269-11 0,-428 2 0,0 1 0,21 5 0,-19-3 0,32 2 0,33-7 0,-52 0 0,0 1 0,-1 2 0,37 6 0,124 15 0,-74-11 0,-42-4 0,64 11 0,8 3 0,-95-16 0,-1 3 0,77 22 0,-90-18 0,-1-2 0,1-2 0,66 5 0,84 11-1365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9156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74889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8168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20438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19539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0788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CAD085-E8A6-8845-BD4E-CB4CCA059FC4}" type="datetimeFigureOut">
              <a:rPr lang="en-US" smtClean="0"/>
              <a:t>3/9/2026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35117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BCAD085-E8A6-8845-BD4E-CB4CCA059FC4}" type="datetimeFigureOut">
              <a:rPr lang="en-US" smtClean="0"/>
              <a:t>3/9/2026</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0837634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12506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50899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42632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3/9/2026</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60170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2.jpe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6.png"/><Relationship Id="rId5" Type="http://schemas.openxmlformats.org/officeDocument/2006/relationships/image" Target="../media/image3.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608" y="235397"/>
            <a:ext cx="8074152" cy="1450757"/>
          </a:xfrm>
        </p:spPr>
        <p:txBody>
          <a:bodyPr/>
          <a:lstStyle/>
          <a:p>
            <a:r>
              <a:rPr b="1" u="sng" dirty="0">
                <a:solidFill>
                  <a:schemeClr val="bg2">
                    <a:lumMod val="10000"/>
                  </a:schemeClr>
                </a:solidFill>
                <a:latin typeface="Aptos" panose="020B0004020202020204" pitchFamily="34" charset="0"/>
              </a:rPr>
              <a:t>SVP Partner Engagement</a:t>
            </a:r>
            <a:r>
              <a:rPr lang="en-IN" b="1" u="sng" dirty="0">
                <a:solidFill>
                  <a:schemeClr val="bg2">
                    <a:lumMod val="10000"/>
                  </a:schemeClr>
                </a:solidFill>
                <a:latin typeface="Aptos" panose="020B0004020202020204" pitchFamily="34" charset="0"/>
              </a:rPr>
              <a:t> &amp; Analytics</a:t>
            </a:r>
            <a:r>
              <a:rPr b="1" u="sng" dirty="0">
                <a:solidFill>
                  <a:schemeClr val="bg2">
                    <a:lumMod val="10000"/>
                  </a:schemeClr>
                </a:solidFill>
                <a:latin typeface="Aptos" panose="020B0004020202020204" pitchFamily="34" charset="0"/>
              </a:rPr>
              <a:t> Dashboard</a:t>
            </a:r>
          </a:p>
        </p:txBody>
      </p:sp>
      <p:sp>
        <p:nvSpPr>
          <p:cNvPr id="3" name="Content Placeholder 2"/>
          <p:cNvSpPr>
            <a:spLocks noGrp="1"/>
          </p:cNvSpPr>
          <p:nvPr>
            <p:ph idx="1"/>
          </p:nvPr>
        </p:nvSpPr>
        <p:spPr>
          <a:xfrm>
            <a:off x="292609" y="3606393"/>
            <a:ext cx="8074151" cy="2713939"/>
          </a:xfrm>
        </p:spPr>
        <p:txBody>
          <a:bodyPr vert="horz" lIns="0" tIns="45720" rIns="0" bIns="45720" rtlCol="0" anchor="t">
            <a:normAutofit/>
          </a:bodyPr>
          <a:lstStyle/>
          <a:p>
            <a:r>
              <a:rPr lang="en-IN" b="1" u="sng" dirty="0"/>
              <a:t>Presentation By </a:t>
            </a:r>
            <a:r>
              <a:rPr lang="en-IN" dirty="0"/>
              <a:t>– </a:t>
            </a:r>
          </a:p>
          <a:p>
            <a:pPr>
              <a:buFont typeface="Arial" panose="020B0604020202020204" pitchFamily="34" charset="0"/>
              <a:buChar char="•"/>
            </a:pPr>
            <a:r>
              <a:rPr lang="en-IN" dirty="0"/>
              <a:t> Prashant Vinod (2024101116)</a:t>
            </a:r>
          </a:p>
          <a:p>
            <a:pPr>
              <a:buFont typeface="Arial" panose="020B0604020202020204" pitchFamily="34" charset="0"/>
              <a:buChar char="•"/>
            </a:pPr>
            <a:r>
              <a:rPr lang="en-IN" dirty="0"/>
              <a:t> </a:t>
            </a:r>
            <a:r>
              <a:rPr lang="en-IN" dirty="0" err="1"/>
              <a:t>Athmeeya</a:t>
            </a:r>
            <a:r>
              <a:rPr lang="en-IN" dirty="0"/>
              <a:t> Kashyap (2024113015)</a:t>
            </a:r>
          </a:p>
          <a:p>
            <a:pPr>
              <a:buFont typeface="Arial" panose="020B0604020202020204" pitchFamily="34" charset="0"/>
              <a:buChar char="•"/>
            </a:pPr>
            <a:r>
              <a:rPr lang="en-IN" dirty="0"/>
              <a:t> Navneet Kumar Gupta (2024111030)</a:t>
            </a:r>
          </a:p>
          <a:p>
            <a:pPr>
              <a:buFont typeface="Arial" panose="020B0604020202020204" pitchFamily="34" charset="0"/>
              <a:buChar char="•"/>
            </a:pPr>
            <a:r>
              <a:rPr lang="en-IN"/>
              <a:t> Sambhavi Singh (</a:t>
            </a:r>
            <a:r>
              <a:rPr lang="en-IN">
                <a:ea typeface="+mn-lt"/>
                <a:cs typeface="+mn-lt"/>
              </a:rPr>
              <a:t>2024117010</a:t>
            </a:r>
            <a:r>
              <a:rPr lang="en-IN"/>
              <a:t>)</a:t>
            </a:r>
            <a:endParaRPr lang="en-IN">
              <a:ea typeface="Calibri"/>
              <a:cs typeface="Calibri"/>
            </a:endParaRPr>
          </a:p>
          <a:p>
            <a:pPr>
              <a:buFont typeface="Arial" panose="020B0604020202020204" pitchFamily="34" charset="0"/>
              <a:buChar char="•"/>
            </a:pPr>
            <a:r>
              <a:rPr lang="en-US" dirty="0"/>
              <a:t> </a:t>
            </a:r>
            <a:r>
              <a:rPr lang="en-US" dirty="0" err="1"/>
              <a:t>Somisetty</a:t>
            </a:r>
            <a:r>
              <a:rPr lang="en-US" dirty="0"/>
              <a:t> Yogansh (2024101006)</a:t>
            </a:r>
          </a:p>
        </p:txBody>
      </p:sp>
      <p:sp>
        <p:nvSpPr>
          <p:cNvPr id="4" name="TextBox 3">
            <a:extLst>
              <a:ext uri="{FF2B5EF4-FFF2-40B4-BE49-F238E27FC236}">
                <a16:creationId xmlns:a16="http://schemas.microsoft.com/office/drawing/2014/main" id="{C8603FB2-F297-0477-079E-BC7762F337ED}"/>
              </a:ext>
            </a:extLst>
          </p:cNvPr>
          <p:cNvSpPr txBox="1"/>
          <p:nvPr/>
        </p:nvSpPr>
        <p:spPr>
          <a:xfrm>
            <a:off x="292609" y="1804392"/>
            <a:ext cx="7874812" cy="1938992"/>
          </a:xfrm>
          <a:prstGeom prst="rect">
            <a:avLst/>
          </a:prstGeom>
          <a:noFill/>
        </p:spPr>
        <p:txBody>
          <a:bodyPr wrap="square" lIns="91440" tIns="45720" rIns="91440" bIns="45720" rtlCol="0" anchor="t">
            <a:spAutoFit/>
          </a:bodyPr>
          <a:lstStyle/>
          <a:p>
            <a:r>
              <a:rPr lang="en-US" sz="2400" b="1" u="sng" dirty="0">
                <a:solidFill>
                  <a:schemeClr val="accent3">
                    <a:lumMod val="75000"/>
                  </a:schemeClr>
                </a:solidFill>
              </a:rPr>
              <a:t>DASS Spring 2026 — Team 49 | Release 1 Presentation</a:t>
            </a:r>
          </a:p>
          <a:p>
            <a:endParaRPr lang="en-US" sz="2400" b="1" u="sng" dirty="0">
              <a:solidFill>
                <a:schemeClr val="accent3">
                  <a:lumMod val="75000"/>
                </a:schemeClr>
              </a:solidFill>
            </a:endParaRPr>
          </a:p>
          <a:p>
            <a:r>
              <a:rPr lang="en-US" sz="2400" b="1" u="sng" dirty="0">
                <a:solidFill>
                  <a:schemeClr val="accent3">
                    <a:lumMod val="75000"/>
                  </a:schemeClr>
                </a:solidFill>
              </a:rPr>
              <a:t>Client:</a:t>
            </a:r>
            <a:r>
              <a:rPr lang="en-US" sz="2400" u="sng" dirty="0">
                <a:solidFill>
                  <a:schemeClr val="accent3">
                    <a:lumMod val="75000"/>
                  </a:schemeClr>
                </a:solidFill>
              </a:rPr>
              <a:t> Raja Prasada Rao Poladi</a:t>
            </a:r>
          </a:p>
          <a:p>
            <a:r>
              <a:rPr lang="en-US" sz="2400" b="1" u="sng" dirty="0">
                <a:solidFill>
                  <a:schemeClr val="accent3">
                    <a:lumMod val="75000"/>
                  </a:schemeClr>
                </a:solidFill>
              </a:rPr>
              <a:t>Course:</a:t>
            </a:r>
            <a:r>
              <a:rPr lang="en-US" sz="2400" u="sng" dirty="0">
                <a:solidFill>
                  <a:schemeClr val="accent3">
                    <a:lumMod val="75000"/>
                  </a:schemeClr>
                </a:solidFill>
              </a:rPr>
              <a:t> Design and Analysis of Software Systems</a:t>
            </a:r>
          </a:p>
          <a:p>
            <a:endParaRPr lang="en-US" sz="2400" b="1" u="sng" dirty="0">
              <a:solidFill>
                <a:schemeClr val="accent1">
                  <a:lumMod val="50000"/>
                </a:schemeClr>
              </a:solidFill>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7F2D9216-0985-268D-D272-0DBA7323BEBD}"/>
                  </a:ext>
                </a:extLst>
              </p14:cNvPr>
              <p14:cNvContentPartPr/>
              <p14:nvPr/>
            </p14:nvContentPartPr>
            <p14:xfrm>
              <a:off x="792432" y="1872432"/>
              <a:ext cx="473400" cy="23040"/>
            </p14:xfrm>
          </p:contentPart>
        </mc:Choice>
        <mc:Fallback xmlns="">
          <p:pic>
            <p:nvPicPr>
              <p:cNvPr id="5" name="Ink 4">
                <a:extLst>
                  <a:ext uri="{FF2B5EF4-FFF2-40B4-BE49-F238E27FC236}">
                    <a16:creationId xmlns:a16="http://schemas.microsoft.com/office/drawing/2014/main" id="{7F2D9216-0985-268D-D272-0DBA7323BEBD}"/>
                  </a:ext>
                </a:extLst>
              </p:cNvPr>
              <p:cNvPicPr/>
              <p:nvPr/>
            </p:nvPicPr>
            <p:blipFill>
              <a:blip r:embed="rId3"/>
              <a:stretch>
                <a:fillRect/>
              </a:stretch>
            </p:blipFill>
            <p:spPr>
              <a:xfrm>
                <a:off x="702364" y="1692432"/>
                <a:ext cx="653177" cy="3826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D23AFCCF-C7BD-CF0B-1764-80CA87B9E184}"/>
                  </a:ext>
                </a:extLst>
              </p14:cNvPr>
              <p14:cNvContentPartPr/>
              <p14:nvPr/>
            </p14:nvContentPartPr>
            <p14:xfrm>
              <a:off x="903672" y="1770192"/>
              <a:ext cx="434880" cy="59400"/>
            </p14:xfrm>
          </p:contentPart>
        </mc:Choice>
        <mc:Fallback xmlns="">
          <p:pic>
            <p:nvPicPr>
              <p:cNvPr id="6" name="Ink 5">
                <a:extLst>
                  <a:ext uri="{FF2B5EF4-FFF2-40B4-BE49-F238E27FC236}">
                    <a16:creationId xmlns:a16="http://schemas.microsoft.com/office/drawing/2014/main" id="{D23AFCCF-C7BD-CF0B-1764-80CA87B9E184}"/>
                  </a:ext>
                </a:extLst>
              </p:cNvPr>
              <p:cNvPicPr/>
              <p:nvPr/>
            </p:nvPicPr>
            <p:blipFill>
              <a:blip r:embed="rId5"/>
              <a:stretch>
                <a:fillRect/>
              </a:stretch>
            </p:blipFill>
            <p:spPr>
              <a:xfrm>
                <a:off x="813597" y="1590192"/>
                <a:ext cx="614669" cy="419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3334FDF2-9732-CFBE-CEE2-6DB0B52222F5}"/>
                  </a:ext>
                </a:extLst>
              </p14:cNvPr>
              <p14:cNvContentPartPr/>
              <p14:nvPr/>
            </p14:nvContentPartPr>
            <p14:xfrm>
              <a:off x="854352" y="1711152"/>
              <a:ext cx="4127400" cy="162000"/>
            </p14:xfrm>
          </p:contentPart>
        </mc:Choice>
        <mc:Fallback xmlns="">
          <p:pic>
            <p:nvPicPr>
              <p:cNvPr id="7" name="Ink 6">
                <a:extLst>
                  <a:ext uri="{FF2B5EF4-FFF2-40B4-BE49-F238E27FC236}">
                    <a16:creationId xmlns:a16="http://schemas.microsoft.com/office/drawing/2014/main" id="{3334FDF2-9732-CFBE-CEE2-6DB0B52222F5}"/>
                  </a:ext>
                </a:extLst>
              </p:cNvPr>
              <p:cNvPicPr/>
              <p:nvPr/>
            </p:nvPicPr>
            <p:blipFill>
              <a:blip r:embed="rId7"/>
              <a:stretch>
                <a:fillRect/>
              </a:stretch>
            </p:blipFill>
            <p:spPr>
              <a:xfrm>
                <a:off x="791352" y="1648292"/>
                <a:ext cx="4253040" cy="287361"/>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9A3B1ED3-5E6C-0E9D-0490-A56F3B1D47F1}"/>
                  </a:ext>
                </a:extLst>
              </p14:cNvPr>
              <p14:cNvContentPartPr/>
              <p14:nvPr/>
            </p14:nvContentPartPr>
            <p14:xfrm>
              <a:off x="4374432" y="1631232"/>
              <a:ext cx="1903680" cy="66600"/>
            </p14:xfrm>
          </p:contentPart>
        </mc:Choice>
        <mc:Fallback xmlns="">
          <p:pic>
            <p:nvPicPr>
              <p:cNvPr id="8" name="Ink 7">
                <a:extLst>
                  <a:ext uri="{FF2B5EF4-FFF2-40B4-BE49-F238E27FC236}">
                    <a16:creationId xmlns:a16="http://schemas.microsoft.com/office/drawing/2014/main" id="{9A3B1ED3-5E6C-0E9D-0490-A56F3B1D47F1}"/>
                  </a:ext>
                </a:extLst>
              </p:cNvPr>
              <p:cNvPicPr/>
              <p:nvPr/>
            </p:nvPicPr>
            <p:blipFill>
              <a:blip r:embed="rId9"/>
              <a:stretch>
                <a:fillRect/>
              </a:stretch>
            </p:blipFill>
            <p:spPr>
              <a:xfrm>
                <a:off x="4311432" y="1568232"/>
                <a:ext cx="202932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05EF49C0-2DFF-6620-31DC-6BB59A659D14}"/>
                  </a:ext>
                </a:extLst>
              </p14:cNvPr>
              <p14:cNvContentPartPr/>
              <p14:nvPr/>
            </p14:nvContentPartPr>
            <p14:xfrm>
              <a:off x="5683752" y="1667592"/>
              <a:ext cx="2777400" cy="171000"/>
            </p14:xfrm>
          </p:contentPart>
        </mc:Choice>
        <mc:Fallback xmlns="">
          <p:pic>
            <p:nvPicPr>
              <p:cNvPr id="9" name="Ink 8">
                <a:extLst>
                  <a:ext uri="{FF2B5EF4-FFF2-40B4-BE49-F238E27FC236}">
                    <a16:creationId xmlns:a16="http://schemas.microsoft.com/office/drawing/2014/main" id="{05EF49C0-2DFF-6620-31DC-6BB59A659D14}"/>
                  </a:ext>
                </a:extLst>
              </p:cNvPr>
              <p:cNvPicPr/>
              <p:nvPr/>
            </p:nvPicPr>
            <p:blipFill>
              <a:blip r:embed="rId11"/>
              <a:stretch>
                <a:fillRect/>
              </a:stretch>
            </p:blipFill>
            <p:spPr>
              <a:xfrm>
                <a:off x="5620752" y="1604724"/>
                <a:ext cx="2903040" cy="296376"/>
              </a:xfrm>
              <a:prstGeom prst="rect">
                <a:avLst/>
              </a:prstGeom>
            </p:spPr>
          </p:pic>
        </mc:Fallback>
      </mc:AlternateContent>
      <p:pic>
        <p:nvPicPr>
          <p:cNvPr id="1028" name="Picture 4" descr="IIITH LAUNCHES INDUSTRY-SPONSORED PART-TIME MASTER OF SCIENCE (MS) BY  RESEARCH">
            <a:extLst>
              <a:ext uri="{FF2B5EF4-FFF2-40B4-BE49-F238E27FC236}">
                <a16:creationId xmlns:a16="http://schemas.microsoft.com/office/drawing/2014/main" id="{6B667633-640D-E0CD-F92C-59AC2D61CDD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95973" y="3429000"/>
            <a:ext cx="2421333" cy="160285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ocial Venture Partners - SVP India | Discover NGOs">
            <a:extLst>
              <a:ext uri="{FF2B5EF4-FFF2-40B4-BE49-F238E27FC236}">
                <a16:creationId xmlns:a16="http://schemas.microsoft.com/office/drawing/2014/main" id="{C85E3C86-FB7B-50EB-8668-E666A827834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95974" y="4930445"/>
            <a:ext cx="2421332" cy="13898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3"/>
            <a:ext cx="7543800" cy="1450757"/>
          </a:xfrm>
        </p:spPr>
        <p:txBody>
          <a:bodyPr>
            <a:normAutofit/>
          </a:bodyPr>
          <a:lstStyle/>
          <a:p>
            <a:r>
              <a:rPr b="1" dirty="0">
                <a:latin typeface="Aptos" panose="020B0004020202020204" pitchFamily="34" charset="0"/>
              </a:rPr>
              <a:t>What is SVP?</a:t>
            </a:r>
          </a:p>
        </p:txBody>
      </p:sp>
      <p:sp>
        <p:nvSpPr>
          <p:cNvPr id="3" name="Content Placeholder 2"/>
          <p:cNvSpPr>
            <a:spLocks noGrp="1"/>
          </p:cNvSpPr>
          <p:nvPr>
            <p:ph idx="1"/>
          </p:nvPr>
        </p:nvSpPr>
        <p:spPr>
          <a:xfrm>
            <a:off x="822958" y="1845734"/>
            <a:ext cx="5051147" cy="4445338"/>
          </a:xfrm>
        </p:spPr>
        <p:txBody>
          <a:bodyPr>
            <a:normAutofit/>
          </a:bodyPr>
          <a:lstStyle/>
          <a:p>
            <a:r>
              <a:rPr lang="en-US" sz="1700" b="1" dirty="0">
                <a:latin typeface="Aptos" panose="020B0004020202020204" pitchFamily="34" charset="0"/>
              </a:rPr>
              <a:t>Social Venture Partners (SVP)</a:t>
            </a:r>
            <a:r>
              <a:rPr lang="en-US" sz="1700" dirty="0">
                <a:latin typeface="Aptos" panose="020B0004020202020204" pitchFamily="34" charset="0"/>
              </a:rPr>
              <a:t> is a global network of engaged philanthropists, connecting skilled professionals with non-profits to create structured impact. Each country has its own independent operations.</a:t>
            </a:r>
          </a:p>
          <a:p>
            <a:r>
              <a:rPr lang="en-US" sz="1700" dirty="0">
                <a:latin typeface="Aptos" panose="020B0004020202020204" pitchFamily="34" charset="0"/>
              </a:rPr>
              <a:t>Previously, the Hyderabad chapter managed these critical interactions manually, leading to severe operational bottlenecks:</a:t>
            </a:r>
          </a:p>
          <a:p>
            <a:pPr lvl="1">
              <a:buFont typeface="Arial" panose="020B0604020202020204" pitchFamily="34" charset="0"/>
              <a:buChar char="•"/>
            </a:pPr>
            <a:r>
              <a:rPr lang="en-US" sz="1700" dirty="0">
                <a:latin typeface="Aptos" panose="020B0004020202020204" pitchFamily="34" charset="0"/>
              </a:rPr>
              <a:t>No centralized system for tracking engagements</a:t>
            </a:r>
          </a:p>
          <a:p>
            <a:pPr lvl="1">
              <a:buFont typeface="Arial" panose="020B0604020202020204" pitchFamily="34" charset="0"/>
              <a:buChar char="•"/>
            </a:pPr>
            <a:r>
              <a:rPr lang="en-US" sz="1700" dirty="0">
                <a:latin typeface="Aptos" panose="020B0004020202020204" pitchFamily="34" charset="0"/>
              </a:rPr>
              <a:t>Scattered attendance records via spreadsheets/WhatsApp</a:t>
            </a:r>
          </a:p>
          <a:p>
            <a:pPr lvl="1">
              <a:buFont typeface="Arial" panose="020B0604020202020204" pitchFamily="34" charset="0"/>
              <a:buChar char="•"/>
            </a:pPr>
            <a:r>
              <a:rPr lang="en-US" sz="1700" dirty="0">
                <a:latin typeface="Aptos" panose="020B0004020202020204" pitchFamily="34" charset="0"/>
              </a:rPr>
              <a:t>Double-bookings on recurring mentorship sessions</a:t>
            </a:r>
          </a:p>
          <a:p>
            <a:pPr lvl="1">
              <a:buFont typeface="Arial" panose="020B0604020202020204" pitchFamily="34" charset="0"/>
              <a:buChar char="•"/>
            </a:pPr>
            <a:r>
              <a:rPr lang="en-US" sz="1700" dirty="0">
                <a:latin typeface="Aptos" panose="020B0004020202020204" pitchFamily="34" charset="0"/>
              </a:rPr>
              <a:t>No visibility for leadership to make data-driven decisions</a:t>
            </a:r>
          </a:p>
        </p:txBody>
      </p:sp>
      <p:pic>
        <p:nvPicPr>
          <p:cNvPr id="2050" name="Picture 2" descr="Social Venture Partners - SVP India | Discover NGOs">
            <a:extLst>
              <a:ext uri="{FF2B5EF4-FFF2-40B4-BE49-F238E27FC236}">
                <a16:creationId xmlns:a16="http://schemas.microsoft.com/office/drawing/2014/main" id="{38170463-B1C0-5152-FA71-FC723A655D0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15427" y="2476158"/>
            <a:ext cx="2351332" cy="23513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3"/>
            <a:ext cx="7543800" cy="1450757"/>
          </a:xfrm>
        </p:spPr>
        <p:txBody>
          <a:bodyPr>
            <a:normAutofit/>
          </a:bodyPr>
          <a:lstStyle/>
          <a:p>
            <a:r>
              <a:rPr b="1" dirty="0">
                <a:latin typeface="Aptos" panose="020B0004020202020204" pitchFamily="34" charset="0"/>
              </a:rPr>
              <a:t>Problem Statement</a:t>
            </a:r>
          </a:p>
        </p:txBody>
      </p:sp>
      <p:sp>
        <p:nvSpPr>
          <p:cNvPr id="3" name="Content Placeholder 2"/>
          <p:cNvSpPr>
            <a:spLocks noGrp="1"/>
          </p:cNvSpPr>
          <p:nvPr>
            <p:ph idx="1"/>
          </p:nvPr>
        </p:nvSpPr>
        <p:spPr>
          <a:xfrm>
            <a:off x="822959" y="1787213"/>
            <a:ext cx="6024068" cy="4569696"/>
          </a:xfrm>
        </p:spPr>
        <p:txBody>
          <a:bodyPr>
            <a:noAutofit/>
          </a:bodyPr>
          <a:lstStyle/>
          <a:p>
            <a:r>
              <a:rPr lang="en-US" sz="1460" dirty="0">
                <a:latin typeface="Aptos" panose="020B0004020202020204" pitchFamily="34" charset="0"/>
              </a:rPr>
              <a:t>The </a:t>
            </a:r>
            <a:r>
              <a:rPr lang="en-US" sz="1460" b="1" dirty="0">
                <a:latin typeface="Aptos" panose="020B0004020202020204" pitchFamily="34" charset="0"/>
              </a:rPr>
              <a:t>SVP Hyderabad chapter</a:t>
            </a:r>
            <a:r>
              <a:rPr lang="en-US" sz="1460" dirty="0">
                <a:latin typeface="Aptos" panose="020B0004020202020204" pitchFamily="34" charset="0"/>
              </a:rPr>
              <a:t> was managing partner engagement manually.</a:t>
            </a:r>
          </a:p>
          <a:p>
            <a:r>
              <a:rPr lang="en-US" sz="1460" b="1" u="sng" dirty="0">
                <a:latin typeface="Aptos" panose="020B0004020202020204" pitchFamily="34" charset="0"/>
              </a:rPr>
              <a:t>Current Workflow</a:t>
            </a:r>
          </a:p>
          <a:p>
            <a:r>
              <a:rPr lang="en-US" sz="1460" dirty="0">
                <a:latin typeface="Aptos" panose="020B0004020202020204" pitchFamily="34" charset="0"/>
              </a:rPr>
              <a:t>• Meetings tracked through </a:t>
            </a:r>
            <a:r>
              <a:rPr lang="en-US" sz="1460" b="1" dirty="0">
                <a:latin typeface="Aptos" panose="020B0004020202020204" pitchFamily="34" charset="0"/>
              </a:rPr>
              <a:t>spreadsheets and emails</a:t>
            </a:r>
            <a:br>
              <a:rPr lang="en-US" sz="1460" dirty="0">
                <a:latin typeface="Aptos" panose="020B0004020202020204" pitchFamily="34" charset="0"/>
              </a:rPr>
            </a:br>
            <a:r>
              <a:rPr lang="en-US" sz="1460" dirty="0">
                <a:latin typeface="Aptos" panose="020B0004020202020204" pitchFamily="34" charset="0"/>
              </a:rPr>
              <a:t>• Attendance tracked using </a:t>
            </a:r>
            <a:r>
              <a:rPr lang="en-US" sz="1460" b="1" dirty="0">
                <a:latin typeface="Aptos" panose="020B0004020202020204" pitchFamily="34" charset="0"/>
              </a:rPr>
              <a:t>paper or WhatsApp messages</a:t>
            </a:r>
            <a:br>
              <a:rPr lang="en-US" sz="1460" dirty="0">
                <a:latin typeface="Aptos" panose="020B0004020202020204" pitchFamily="34" charset="0"/>
              </a:rPr>
            </a:br>
            <a:r>
              <a:rPr lang="en-US" sz="1460" dirty="0">
                <a:latin typeface="Aptos" panose="020B0004020202020204" pitchFamily="34" charset="0"/>
              </a:rPr>
              <a:t>• Recurring meetings scheduled </a:t>
            </a:r>
            <a:r>
              <a:rPr lang="en-US" sz="1460" b="1" dirty="0">
                <a:latin typeface="Aptos" panose="020B0004020202020204" pitchFamily="34" charset="0"/>
              </a:rPr>
              <a:t>manually every time</a:t>
            </a:r>
            <a:endParaRPr lang="en-US" sz="1460" dirty="0">
              <a:latin typeface="Aptos" panose="020B0004020202020204" pitchFamily="34" charset="0"/>
            </a:endParaRPr>
          </a:p>
          <a:p>
            <a:r>
              <a:rPr lang="en-US" sz="1460" b="1" u="sng" dirty="0">
                <a:latin typeface="Aptos" panose="020B0004020202020204" pitchFamily="34" charset="0"/>
              </a:rPr>
              <a:t>Challenges</a:t>
            </a:r>
          </a:p>
          <a:p>
            <a:r>
              <a:rPr lang="en-US" sz="1460" dirty="0">
                <a:latin typeface="Aptos" panose="020B0004020202020204" pitchFamily="34" charset="0"/>
              </a:rPr>
              <a:t>• No centralized system for tracking meetings</a:t>
            </a:r>
            <a:br>
              <a:rPr lang="en-US" sz="1460" dirty="0">
                <a:latin typeface="Aptos" panose="020B0004020202020204" pitchFamily="34" charset="0"/>
              </a:rPr>
            </a:br>
            <a:r>
              <a:rPr lang="en-US" sz="1460" dirty="0">
                <a:latin typeface="Aptos" panose="020B0004020202020204" pitchFamily="34" charset="0"/>
              </a:rPr>
              <a:t>• Difficult to monitor partner participation</a:t>
            </a:r>
            <a:br>
              <a:rPr lang="en-US" sz="1460" dirty="0">
                <a:latin typeface="Aptos" panose="020B0004020202020204" pitchFamily="34" charset="0"/>
              </a:rPr>
            </a:br>
            <a:r>
              <a:rPr lang="en-US" sz="1460" dirty="0">
                <a:latin typeface="Aptos" panose="020B0004020202020204" pitchFamily="34" charset="0"/>
              </a:rPr>
              <a:t>• Recurring meetings prone to scheduling errors</a:t>
            </a:r>
            <a:br>
              <a:rPr lang="en-US" sz="1460" dirty="0">
                <a:latin typeface="Aptos" panose="020B0004020202020204" pitchFamily="34" charset="0"/>
              </a:rPr>
            </a:br>
            <a:r>
              <a:rPr lang="en-US" sz="1460" dirty="0">
                <a:latin typeface="Aptos" panose="020B0004020202020204" pitchFamily="34" charset="0"/>
              </a:rPr>
              <a:t>• Hard for leadership to measure reliable engagement</a:t>
            </a:r>
          </a:p>
          <a:p>
            <a:r>
              <a:rPr lang="en-US" sz="1460" b="1" u="sng" dirty="0">
                <a:latin typeface="Aptos" panose="020B0004020202020204" pitchFamily="34" charset="0"/>
              </a:rPr>
              <a:t>Impact</a:t>
            </a:r>
          </a:p>
          <a:p>
            <a:pPr>
              <a:buFont typeface="Wingdings" panose="05000000000000000000" pitchFamily="2" charset="2"/>
              <a:buChar char="Ø"/>
            </a:pPr>
            <a:r>
              <a:rPr lang="en-US" sz="1460" dirty="0">
                <a:latin typeface="Aptos" panose="020B0004020202020204" pitchFamily="34" charset="0"/>
              </a:rPr>
              <a:t> Missed follow-ups</a:t>
            </a:r>
          </a:p>
          <a:p>
            <a:pPr>
              <a:buFont typeface="Wingdings" panose="05000000000000000000" pitchFamily="2" charset="2"/>
              <a:buChar char="Ø"/>
            </a:pPr>
            <a:r>
              <a:rPr lang="en-US" sz="1460" dirty="0">
                <a:latin typeface="Aptos" panose="020B0004020202020204" pitchFamily="34" charset="0"/>
              </a:rPr>
              <a:t> Poor visibility into partner activity</a:t>
            </a:r>
          </a:p>
          <a:p>
            <a:pPr>
              <a:buFont typeface="Wingdings" panose="05000000000000000000" pitchFamily="2" charset="2"/>
              <a:buChar char="Ø"/>
            </a:pPr>
            <a:r>
              <a:rPr lang="en-US" sz="1460" dirty="0">
                <a:latin typeface="Aptos" panose="020B0004020202020204" pitchFamily="34" charset="0"/>
              </a:rPr>
              <a:t> Manual reporting and analytics</a:t>
            </a:r>
          </a:p>
        </p:txBody>
      </p:sp>
      <p:pic>
        <p:nvPicPr>
          <p:cNvPr id="7" name="Graphic 6" descr="Blog">
            <a:extLst>
              <a:ext uri="{FF2B5EF4-FFF2-40B4-BE49-F238E27FC236}">
                <a16:creationId xmlns:a16="http://schemas.microsoft.com/office/drawing/2014/main" id="{F2ED1FBE-7039-5229-6FC2-9B92810F04E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15427" y="2476158"/>
            <a:ext cx="2351332" cy="23513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0F6C18-1623-FD0F-0EAE-4A9F614FEC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D81B37-3D54-9AF4-2330-ECBBD0994014}"/>
              </a:ext>
            </a:extLst>
          </p:cNvPr>
          <p:cNvSpPr>
            <a:spLocks noGrp="1"/>
          </p:cNvSpPr>
          <p:nvPr>
            <p:ph type="title"/>
          </p:nvPr>
        </p:nvSpPr>
        <p:spPr>
          <a:xfrm>
            <a:off x="822960" y="286603"/>
            <a:ext cx="7543800" cy="1450757"/>
          </a:xfrm>
        </p:spPr>
        <p:txBody>
          <a:bodyPr>
            <a:normAutofit/>
          </a:bodyPr>
          <a:lstStyle/>
          <a:p>
            <a:r>
              <a:rPr lang="en-IN" b="1" dirty="0">
                <a:latin typeface="Aptos" panose="020B0004020202020204" pitchFamily="34" charset="0"/>
              </a:rPr>
              <a:t>Client Expectations</a:t>
            </a:r>
            <a:endParaRPr b="1" dirty="0">
              <a:latin typeface="Aptos" panose="020B0004020202020204" pitchFamily="34" charset="0"/>
            </a:endParaRPr>
          </a:p>
        </p:txBody>
      </p:sp>
      <p:sp>
        <p:nvSpPr>
          <p:cNvPr id="3" name="Content Placeholder 2">
            <a:extLst>
              <a:ext uri="{FF2B5EF4-FFF2-40B4-BE49-F238E27FC236}">
                <a16:creationId xmlns:a16="http://schemas.microsoft.com/office/drawing/2014/main" id="{75730D86-744D-CA29-C040-5F7ACD97DA89}"/>
              </a:ext>
            </a:extLst>
          </p:cNvPr>
          <p:cNvSpPr>
            <a:spLocks noGrp="1"/>
          </p:cNvSpPr>
          <p:nvPr>
            <p:ph idx="1"/>
          </p:nvPr>
        </p:nvSpPr>
        <p:spPr>
          <a:xfrm>
            <a:off x="822959" y="1845733"/>
            <a:ext cx="4714647" cy="4196621"/>
          </a:xfrm>
        </p:spPr>
        <p:txBody>
          <a:bodyPr>
            <a:normAutofit/>
          </a:bodyPr>
          <a:lstStyle/>
          <a:p>
            <a:pPr>
              <a:buFont typeface="Wingdings" panose="05000000000000000000" pitchFamily="2" charset="2"/>
              <a:buChar char="q"/>
            </a:pPr>
            <a:r>
              <a:rPr lang="en-US" sz="1700" dirty="0">
                <a:latin typeface="Aptos" panose="020B0004020202020204" pitchFamily="34" charset="0"/>
              </a:rPr>
              <a:t> Mr. Raja Poladi, Head of </a:t>
            </a:r>
            <a:r>
              <a:rPr lang="en-US" sz="1700" dirty="0" err="1">
                <a:latin typeface="Aptos" panose="020B0004020202020204" pitchFamily="34" charset="0"/>
              </a:rPr>
              <a:t>CDiT</a:t>
            </a:r>
            <a:r>
              <a:rPr lang="en-US" sz="1700" dirty="0">
                <a:latin typeface="Aptos" panose="020B0004020202020204" pitchFamily="34" charset="0"/>
              </a:rPr>
              <a:t>-H, provided an informal requirements document describing how different entities in the system should interact and how each view of the platform should function. Based on this guidance, the client expected us to translate these workflows into a </a:t>
            </a:r>
            <a:r>
              <a:rPr lang="en-US" sz="1700" b="1" dirty="0">
                <a:latin typeface="Aptos" panose="020B0004020202020204" pitchFamily="34" charset="0"/>
              </a:rPr>
              <a:t>structured and intuitive web application</a:t>
            </a:r>
            <a:r>
              <a:rPr lang="en-US" sz="1700" dirty="0">
                <a:latin typeface="Aptos" panose="020B0004020202020204" pitchFamily="34" charset="0"/>
              </a:rPr>
              <a:t>.</a:t>
            </a:r>
          </a:p>
          <a:p>
            <a:pPr>
              <a:buFont typeface="Wingdings" panose="05000000000000000000" pitchFamily="2" charset="2"/>
              <a:buChar char="q"/>
            </a:pPr>
            <a:r>
              <a:rPr lang="en-US" sz="1700" dirty="0">
                <a:latin typeface="Aptos" panose="020B0004020202020204" pitchFamily="34" charset="0"/>
              </a:rPr>
              <a:t> A key expectation was to ensure the platform is easy to use and significantly </a:t>
            </a:r>
            <a:r>
              <a:rPr lang="en-US" sz="1700" b="1" dirty="0">
                <a:latin typeface="Aptos" panose="020B0004020202020204" pitchFamily="34" charset="0"/>
              </a:rPr>
              <a:t>reduces the time</a:t>
            </a:r>
            <a:r>
              <a:rPr lang="en-US" sz="1700" dirty="0">
                <a:latin typeface="Aptos" panose="020B0004020202020204" pitchFamily="34" charset="0"/>
              </a:rPr>
              <a:t> and </a:t>
            </a:r>
            <a:r>
              <a:rPr lang="en-US" sz="1700" b="1" dirty="0">
                <a:latin typeface="Aptos" panose="020B0004020202020204" pitchFamily="34" charset="0"/>
              </a:rPr>
              <a:t>effort currently spent by SVP Team</a:t>
            </a:r>
            <a:r>
              <a:rPr lang="en-US" sz="1700" dirty="0">
                <a:latin typeface="Aptos" panose="020B0004020202020204" pitchFamily="34" charset="0"/>
              </a:rPr>
              <a:t> in managing partner engagement through manual processes. The system also needed to be designed with good software engineering practices, ensuring it is </a:t>
            </a:r>
            <a:r>
              <a:rPr lang="en-US" sz="1700" b="1" dirty="0">
                <a:latin typeface="Aptos" panose="020B0004020202020204" pitchFamily="34" charset="0"/>
              </a:rPr>
              <a:t>modular</a:t>
            </a:r>
            <a:r>
              <a:rPr lang="en-US" sz="1700" dirty="0">
                <a:latin typeface="Aptos" panose="020B0004020202020204" pitchFamily="34" charset="0"/>
              </a:rPr>
              <a:t>, </a:t>
            </a:r>
            <a:r>
              <a:rPr lang="en-US" sz="1700" b="1" dirty="0">
                <a:latin typeface="Aptos" panose="020B0004020202020204" pitchFamily="34" charset="0"/>
              </a:rPr>
              <a:t>maintainable</a:t>
            </a:r>
            <a:r>
              <a:rPr lang="en-US" sz="1700" dirty="0">
                <a:latin typeface="Aptos" panose="020B0004020202020204" pitchFamily="34" charset="0"/>
              </a:rPr>
              <a:t>, and </a:t>
            </a:r>
            <a:r>
              <a:rPr lang="en-US" sz="1700" b="1" dirty="0">
                <a:latin typeface="Aptos" panose="020B0004020202020204" pitchFamily="34" charset="0"/>
              </a:rPr>
              <a:t>scalable</a:t>
            </a:r>
            <a:r>
              <a:rPr lang="en-US" sz="1700" dirty="0">
                <a:latin typeface="Aptos" panose="020B0004020202020204" pitchFamily="34" charset="0"/>
              </a:rPr>
              <a:t> for future releases.</a:t>
            </a:r>
          </a:p>
        </p:txBody>
      </p:sp>
      <p:pic>
        <p:nvPicPr>
          <p:cNvPr id="7" name="Graphic 6" descr="Board Room">
            <a:extLst>
              <a:ext uri="{FF2B5EF4-FFF2-40B4-BE49-F238E27FC236}">
                <a16:creationId xmlns:a16="http://schemas.microsoft.com/office/drawing/2014/main" id="{D5C4CA53-0998-0225-6C1C-BDAFCDD6976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15427" y="2476158"/>
            <a:ext cx="2351332" cy="2351332"/>
          </a:xfrm>
          <a:prstGeom prst="rect">
            <a:avLst/>
          </a:prstGeom>
        </p:spPr>
      </p:pic>
    </p:spTree>
    <p:extLst>
      <p:ext uri="{BB962C8B-B14F-4D97-AF65-F5344CB8AC3E}">
        <p14:creationId xmlns:p14="http://schemas.microsoft.com/office/powerpoint/2010/main" val="3146934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Desk with productivity items">
            <a:extLst>
              <a:ext uri="{FF2B5EF4-FFF2-40B4-BE49-F238E27FC236}">
                <a16:creationId xmlns:a16="http://schemas.microsoft.com/office/drawing/2014/main" id="{DC4E1111-099A-45CF-48E6-052AFF565555}"/>
              </a:ext>
            </a:extLst>
          </p:cNvPr>
          <p:cNvPicPr>
            <a:picLocks noChangeAspect="1"/>
          </p:cNvPicPr>
          <p:nvPr/>
        </p:nvPicPr>
        <p:blipFill>
          <a:blip r:embed="rId2">
            <a:duotone>
              <a:schemeClr val="bg2">
                <a:shade val="45000"/>
                <a:satMod val="135000"/>
              </a:schemeClr>
              <a:prstClr val="white"/>
            </a:duotone>
            <a:alphaModFix amt="35000"/>
          </a:blip>
          <a:srcRect l="11000" r="-1" b="-1"/>
          <a:stretch>
            <a:fillRect/>
          </a:stretch>
        </p:blipFill>
        <p:spPr>
          <a:xfrm>
            <a:off x="20" y="10"/>
            <a:ext cx="9143980" cy="6857990"/>
          </a:xfrm>
          <a:prstGeom prst="rect">
            <a:avLst/>
          </a:prstGeom>
        </p:spPr>
      </p:pic>
      <p:cxnSp>
        <p:nvCxnSpPr>
          <p:cNvPr id="18" name="Straight Connector 17">
            <a:extLst>
              <a:ext uri="{FF2B5EF4-FFF2-40B4-BE49-F238E27FC236}">
                <a16:creationId xmlns:a16="http://schemas.microsoft.com/office/drawing/2014/main" id="{E9F7CBA9-9D9B-479F-AAB5-BF785971CD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149" y="1737845"/>
            <a:ext cx="747522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822960" y="286603"/>
            <a:ext cx="7543800" cy="1450757"/>
          </a:xfrm>
        </p:spPr>
        <p:txBody>
          <a:bodyPr>
            <a:normAutofit/>
          </a:bodyPr>
          <a:lstStyle/>
          <a:p>
            <a:r>
              <a:rPr b="1" dirty="0">
                <a:latin typeface="Aptos" panose="020B0004020202020204" pitchFamily="34" charset="0"/>
              </a:rPr>
              <a:t>Our Solution</a:t>
            </a:r>
          </a:p>
        </p:txBody>
      </p:sp>
      <p:sp>
        <p:nvSpPr>
          <p:cNvPr id="3" name="Content Placeholder 2"/>
          <p:cNvSpPr>
            <a:spLocks noGrp="1"/>
          </p:cNvSpPr>
          <p:nvPr>
            <p:ph idx="1"/>
          </p:nvPr>
        </p:nvSpPr>
        <p:spPr>
          <a:xfrm>
            <a:off x="822960" y="1803845"/>
            <a:ext cx="8167420" cy="4529972"/>
          </a:xfrm>
        </p:spPr>
        <p:txBody>
          <a:bodyPr>
            <a:noAutofit/>
          </a:bodyPr>
          <a:lstStyle/>
          <a:p>
            <a:r>
              <a:rPr lang="en-US" dirty="0">
                <a:latin typeface="Aptos" panose="020B0004020202020204" pitchFamily="34" charset="0"/>
              </a:rPr>
              <a:t>Our SDLC is a </a:t>
            </a:r>
            <a:r>
              <a:rPr lang="en-US" b="1" u="sng" dirty="0">
                <a:latin typeface="Aptos" panose="020B0004020202020204" pitchFamily="34" charset="0"/>
              </a:rPr>
              <a:t>prototyping model</a:t>
            </a:r>
            <a:r>
              <a:rPr lang="en-US" dirty="0">
                <a:latin typeface="Aptos" panose="020B0004020202020204" pitchFamily="34" charset="0"/>
              </a:rPr>
              <a:t> and we have developed a centralized full-stack web platform called:</a:t>
            </a:r>
          </a:p>
          <a:p>
            <a:r>
              <a:rPr lang="en-US" b="1" u="sng" dirty="0">
                <a:latin typeface="Aptos" panose="020B0004020202020204" pitchFamily="34" charset="0"/>
              </a:rPr>
              <a:t>SVP Partner Engagement Dashboard</a:t>
            </a:r>
          </a:p>
          <a:p>
            <a:r>
              <a:rPr lang="en-US" b="1" u="sng" dirty="0">
                <a:latin typeface="Aptos" panose="020B0004020202020204" pitchFamily="34" charset="0"/>
              </a:rPr>
              <a:t>Objectives</a:t>
            </a:r>
          </a:p>
          <a:p>
            <a:r>
              <a:rPr lang="en-US" dirty="0">
                <a:latin typeface="Aptos" panose="020B0004020202020204" pitchFamily="34" charset="0"/>
              </a:rPr>
              <a:t>• Replace manual spreadsheets with a structured platform                         </a:t>
            </a:r>
            <a:br>
              <a:rPr lang="en-US" dirty="0">
                <a:latin typeface="Aptos" panose="020B0004020202020204" pitchFamily="34" charset="0"/>
              </a:rPr>
            </a:br>
            <a:r>
              <a:rPr lang="en-US" dirty="0">
                <a:latin typeface="Aptos" panose="020B0004020202020204" pitchFamily="34" charset="0"/>
              </a:rPr>
              <a:t>• Track all partner engagement in a </a:t>
            </a:r>
            <a:r>
              <a:rPr lang="en-US" b="1" dirty="0">
                <a:latin typeface="Aptos" panose="020B0004020202020204" pitchFamily="34" charset="0"/>
              </a:rPr>
              <a:t>single system</a:t>
            </a:r>
            <a:br>
              <a:rPr lang="en-US" dirty="0">
                <a:latin typeface="Aptos" panose="020B0004020202020204" pitchFamily="34" charset="0"/>
              </a:rPr>
            </a:br>
            <a:r>
              <a:rPr lang="en-US" dirty="0">
                <a:latin typeface="Aptos" panose="020B0004020202020204" pitchFamily="34" charset="0"/>
              </a:rPr>
              <a:t>• Provide </a:t>
            </a:r>
            <a:r>
              <a:rPr lang="en-US" b="1" dirty="0">
                <a:latin typeface="Aptos" panose="020B0004020202020204" pitchFamily="34" charset="0"/>
              </a:rPr>
              <a:t>analytics and reporting capabilities</a:t>
            </a:r>
            <a:br>
              <a:rPr lang="en-US" dirty="0">
                <a:latin typeface="Aptos" panose="020B0004020202020204" pitchFamily="34" charset="0"/>
              </a:rPr>
            </a:br>
            <a:r>
              <a:rPr lang="en-US" dirty="0">
                <a:latin typeface="Aptos" panose="020B0004020202020204" pitchFamily="34" charset="0"/>
              </a:rPr>
              <a:t>• Simplify meeting scheduling and attendance tracking</a:t>
            </a:r>
          </a:p>
          <a:p>
            <a:r>
              <a:rPr lang="en-US" b="1" u="sng" dirty="0">
                <a:latin typeface="Aptos" panose="020B0004020202020204" pitchFamily="34" charset="0"/>
              </a:rPr>
              <a:t>Core Capabilities</a:t>
            </a:r>
          </a:p>
          <a:p>
            <a:r>
              <a:rPr lang="en-US" dirty="0">
                <a:latin typeface="Aptos" panose="020B0004020202020204" pitchFamily="34" charset="0"/>
              </a:rPr>
              <a:t>• Manage </a:t>
            </a:r>
            <a:r>
              <a:rPr lang="en-US" b="1" dirty="0">
                <a:latin typeface="Aptos" panose="020B0004020202020204" pitchFamily="34" charset="0"/>
              </a:rPr>
              <a:t>Partners, Investees, and Groups</a:t>
            </a:r>
            <a:br>
              <a:rPr lang="en-US" dirty="0">
                <a:latin typeface="Aptos" panose="020B0004020202020204" pitchFamily="34" charset="0"/>
              </a:rPr>
            </a:br>
            <a:r>
              <a:rPr lang="en-US" dirty="0">
                <a:latin typeface="Aptos" panose="020B0004020202020204" pitchFamily="34" charset="0"/>
              </a:rPr>
              <a:t>• Schedule </a:t>
            </a:r>
            <a:r>
              <a:rPr lang="en-US" b="1" dirty="0">
                <a:latin typeface="Aptos" panose="020B0004020202020204" pitchFamily="34" charset="0"/>
              </a:rPr>
              <a:t>appointments and recurring meetings</a:t>
            </a:r>
            <a:br>
              <a:rPr lang="en-US" dirty="0">
                <a:latin typeface="Aptos" panose="020B0004020202020204" pitchFamily="34" charset="0"/>
              </a:rPr>
            </a:br>
            <a:r>
              <a:rPr lang="en-US" dirty="0">
                <a:latin typeface="Aptos" panose="020B0004020202020204" pitchFamily="34" charset="0"/>
              </a:rPr>
              <a:t>• Track </a:t>
            </a:r>
            <a:r>
              <a:rPr lang="en-US" b="1" dirty="0">
                <a:latin typeface="Aptos" panose="020B0004020202020204" pitchFamily="34" charset="0"/>
              </a:rPr>
              <a:t>attendance per partner</a:t>
            </a:r>
            <a:br>
              <a:rPr lang="en-US" dirty="0">
                <a:latin typeface="Aptos" panose="020B0004020202020204" pitchFamily="34" charset="0"/>
              </a:rPr>
            </a:br>
            <a:r>
              <a:rPr lang="en-US" dirty="0">
                <a:latin typeface="Aptos" panose="020B0004020202020204" pitchFamily="34" charset="0"/>
              </a:rPr>
              <a:t>• Visualize </a:t>
            </a:r>
            <a:r>
              <a:rPr lang="en-US" b="1" dirty="0">
                <a:latin typeface="Aptos" panose="020B0004020202020204" pitchFamily="34" charset="0"/>
              </a:rPr>
              <a:t>engagement analytics</a:t>
            </a:r>
            <a:br>
              <a:rPr lang="en-US" dirty="0">
                <a:latin typeface="Aptos" panose="020B0004020202020204" pitchFamily="34" charset="0"/>
              </a:rPr>
            </a:br>
            <a:r>
              <a:rPr lang="en-US" dirty="0">
                <a:latin typeface="Aptos" panose="020B0004020202020204" pitchFamily="34" charset="0"/>
              </a:rPr>
              <a:t>• Export operational data to </a:t>
            </a:r>
            <a:r>
              <a:rPr lang="en-US" b="1" dirty="0">
                <a:latin typeface="Aptos" panose="020B0004020202020204" pitchFamily="34" charset="0"/>
              </a:rPr>
              <a:t>Excel and PDF</a:t>
            </a:r>
            <a:endParaRPr lang="en-US" dirty="0">
              <a:latin typeface="Aptos" panose="020B0004020202020204" pitchFamily="34" charset="0"/>
            </a:endParaRPr>
          </a:p>
        </p:txBody>
      </p:sp>
      <p:sp>
        <p:nvSpPr>
          <p:cNvPr id="20" name="Rectangle 19">
            <a:extLst>
              <a:ext uri="{FF2B5EF4-FFF2-40B4-BE49-F238E27FC236}">
                <a16:creationId xmlns:a16="http://schemas.microsoft.com/office/drawing/2014/main" id="{154480E5-678B-478F-9170-46502C5FB3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3989"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2" name="Rectangle 21">
            <a:extLst>
              <a:ext uri="{FF2B5EF4-FFF2-40B4-BE49-F238E27FC236}">
                <a16:creationId xmlns:a16="http://schemas.microsoft.com/office/drawing/2014/main" id="{B598D875-841B-47A7-B4C8-237DBCE2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3B7EBC-D1FC-2EC7-C07E-E7C31E74DDA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EEF622-9C65-987E-9414-1BFD5A1DCF4D}"/>
              </a:ext>
            </a:extLst>
          </p:cNvPr>
          <p:cNvSpPr>
            <a:spLocks noGrp="1"/>
          </p:cNvSpPr>
          <p:nvPr>
            <p:ph type="title"/>
          </p:nvPr>
        </p:nvSpPr>
        <p:spPr>
          <a:xfrm>
            <a:off x="3886200" y="634946"/>
            <a:ext cx="4776107" cy="1450757"/>
          </a:xfrm>
        </p:spPr>
        <p:txBody>
          <a:bodyPr>
            <a:normAutofit/>
          </a:bodyPr>
          <a:lstStyle/>
          <a:p>
            <a:r>
              <a:rPr lang="en-IN" sz="4400" b="1" dirty="0">
                <a:latin typeface="Aptos" panose="020B0004020202020204" pitchFamily="34" charset="0"/>
              </a:rPr>
              <a:t>Partner &amp; Investee Management</a:t>
            </a:r>
          </a:p>
        </p:txBody>
      </p:sp>
      <p:pic>
        <p:nvPicPr>
          <p:cNvPr id="5" name="Picture 4" descr="Drawings on colorful paper">
            <a:extLst>
              <a:ext uri="{FF2B5EF4-FFF2-40B4-BE49-F238E27FC236}">
                <a16:creationId xmlns:a16="http://schemas.microsoft.com/office/drawing/2014/main" id="{0E7B448E-74EF-3D50-021F-8642B81EB921}"/>
              </a:ext>
            </a:extLst>
          </p:cNvPr>
          <p:cNvPicPr>
            <a:picLocks noChangeAspect="1"/>
          </p:cNvPicPr>
          <p:nvPr/>
        </p:nvPicPr>
        <p:blipFill>
          <a:blip r:embed="rId2"/>
          <a:srcRect l="22913" r="43172" b="1"/>
          <a:stretch>
            <a:fillRect/>
          </a:stretch>
        </p:blipFill>
        <p:spPr>
          <a:xfrm>
            <a:off x="20" y="-12128"/>
            <a:ext cx="3490702" cy="6870127"/>
          </a:xfrm>
          <a:prstGeom prst="rect">
            <a:avLst/>
          </a:prstGeom>
        </p:spPr>
      </p:pic>
      <p:cxnSp>
        <p:nvCxnSpPr>
          <p:cNvPr id="13" name="Straight Connector 1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65712" y="2085703"/>
            <a:ext cx="4628015"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D7F5346-571B-C15C-28EE-6CBEE6541D69}"/>
              </a:ext>
            </a:extLst>
          </p:cNvPr>
          <p:cNvSpPr>
            <a:spLocks noGrp="1"/>
          </p:cNvSpPr>
          <p:nvPr>
            <p:ph idx="1"/>
          </p:nvPr>
        </p:nvSpPr>
        <p:spPr>
          <a:xfrm>
            <a:off x="3886200" y="2198913"/>
            <a:ext cx="5133442" cy="4659083"/>
          </a:xfrm>
        </p:spPr>
        <p:txBody>
          <a:bodyPr>
            <a:normAutofit/>
          </a:bodyPr>
          <a:lstStyle/>
          <a:p>
            <a:r>
              <a:rPr lang="en-US" sz="1800" dirty="0">
                <a:latin typeface="Aptos" panose="020B0004020202020204" pitchFamily="34" charset="0"/>
              </a:rPr>
              <a:t>The system allows administrators to manage partners and organizations efficiently.</a:t>
            </a:r>
          </a:p>
          <a:p>
            <a:r>
              <a:rPr lang="en-US" sz="1800" b="1" u="sng" dirty="0">
                <a:latin typeface="Aptos" panose="020B0004020202020204" pitchFamily="34" charset="0"/>
              </a:rPr>
              <a:t>Partner Management</a:t>
            </a:r>
          </a:p>
          <a:p>
            <a:r>
              <a:rPr lang="en-US" sz="1800" dirty="0">
                <a:latin typeface="Aptos" panose="020B0004020202020204" pitchFamily="34" charset="0"/>
              </a:rPr>
              <a:t>• Create and update partner profiles</a:t>
            </a:r>
            <a:br>
              <a:rPr lang="en-US" sz="1800" dirty="0">
                <a:latin typeface="Aptos" panose="020B0004020202020204" pitchFamily="34" charset="0"/>
              </a:rPr>
            </a:br>
            <a:r>
              <a:rPr lang="en-US" sz="1800" dirty="0">
                <a:latin typeface="Aptos" panose="020B0004020202020204" pitchFamily="34" charset="0"/>
              </a:rPr>
              <a:t>• Search partners by </a:t>
            </a:r>
            <a:r>
              <a:rPr lang="en-US" sz="1800" b="1" dirty="0">
                <a:latin typeface="Aptos" panose="020B0004020202020204" pitchFamily="34" charset="0"/>
              </a:rPr>
              <a:t>name or email</a:t>
            </a:r>
            <a:br>
              <a:rPr lang="en-US" sz="1800" dirty="0">
                <a:latin typeface="Aptos" panose="020B0004020202020204" pitchFamily="34" charset="0"/>
              </a:rPr>
            </a:br>
            <a:r>
              <a:rPr lang="en-US" sz="1800" dirty="0">
                <a:latin typeface="Aptos" panose="020B0004020202020204" pitchFamily="34" charset="0"/>
              </a:rPr>
              <a:t>• Sort partners by </a:t>
            </a:r>
            <a:r>
              <a:rPr lang="en-US" sz="1800" b="1" dirty="0">
                <a:latin typeface="Aptos" panose="020B0004020202020204" pitchFamily="34" charset="0"/>
              </a:rPr>
              <a:t>start date, email, or name</a:t>
            </a:r>
            <a:br>
              <a:rPr lang="en-US" sz="1800" dirty="0">
                <a:latin typeface="Aptos" panose="020B0004020202020204" pitchFamily="34" charset="0"/>
              </a:rPr>
            </a:br>
            <a:r>
              <a:rPr lang="en-US" sz="1800" dirty="0">
                <a:latin typeface="Aptos" panose="020B0004020202020204" pitchFamily="34" charset="0"/>
              </a:rPr>
              <a:t>• View detailed </a:t>
            </a:r>
            <a:r>
              <a:rPr lang="en-US" sz="1800" b="1" dirty="0">
                <a:latin typeface="Aptos" panose="020B0004020202020204" pitchFamily="34" charset="0"/>
              </a:rPr>
              <a:t>appointment history and attendance</a:t>
            </a:r>
            <a:endParaRPr lang="en-US" sz="1800" dirty="0">
              <a:latin typeface="Aptos" panose="020B0004020202020204" pitchFamily="34" charset="0"/>
            </a:endParaRPr>
          </a:p>
          <a:p>
            <a:r>
              <a:rPr lang="en-US" sz="1800" b="1" u="sng" dirty="0">
                <a:latin typeface="Aptos" panose="020B0004020202020204" pitchFamily="34" charset="0"/>
              </a:rPr>
              <a:t>Additional Feature</a:t>
            </a:r>
          </a:p>
          <a:p>
            <a:r>
              <a:rPr lang="en-US" sz="1800" dirty="0">
                <a:latin typeface="Aptos" panose="020B0004020202020204" pitchFamily="34" charset="0"/>
              </a:rPr>
              <a:t>• </a:t>
            </a:r>
            <a:r>
              <a:rPr lang="en-US" sz="1800" b="1" dirty="0">
                <a:latin typeface="Aptos" panose="020B0004020202020204" pitchFamily="34" charset="0"/>
              </a:rPr>
              <a:t>Primary ↔ Secondary partner hierarchy</a:t>
            </a:r>
            <a:endParaRPr lang="en-US" sz="1800" dirty="0">
              <a:latin typeface="Aptos" panose="020B0004020202020204" pitchFamily="34" charset="0"/>
            </a:endParaRPr>
          </a:p>
          <a:p>
            <a:r>
              <a:rPr lang="en-US" sz="1800" b="1" u="sng" dirty="0">
                <a:latin typeface="Aptos" panose="020B0004020202020204" pitchFamily="34" charset="0"/>
              </a:rPr>
              <a:t>Investee Management</a:t>
            </a:r>
          </a:p>
          <a:p>
            <a:r>
              <a:rPr lang="en-US" sz="1800" dirty="0">
                <a:latin typeface="Aptos" panose="020B0004020202020204" pitchFamily="34" charset="0"/>
              </a:rPr>
              <a:t>• Maintain records of all investee organizations</a:t>
            </a:r>
            <a:br>
              <a:rPr lang="en-US" sz="1800" dirty="0">
                <a:latin typeface="Aptos" panose="020B0004020202020204" pitchFamily="34" charset="0"/>
              </a:rPr>
            </a:br>
            <a:r>
              <a:rPr lang="en-US" sz="1800" dirty="0">
                <a:latin typeface="Aptos" panose="020B0004020202020204" pitchFamily="34" charset="0"/>
              </a:rPr>
              <a:t>• View all meetings associated with a specific investee</a:t>
            </a:r>
          </a:p>
        </p:txBody>
      </p:sp>
    </p:spTree>
    <p:extLst>
      <p:ext uri="{BB962C8B-B14F-4D97-AF65-F5344CB8AC3E}">
        <p14:creationId xmlns:p14="http://schemas.microsoft.com/office/powerpoint/2010/main" val="1743471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B280A5-0756-1626-7EA0-3DCC53739F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1AD0F0-5396-A2BE-B2DB-C8B657834562}"/>
              </a:ext>
            </a:extLst>
          </p:cNvPr>
          <p:cNvSpPr>
            <a:spLocks noGrp="1"/>
          </p:cNvSpPr>
          <p:nvPr>
            <p:ph type="title"/>
          </p:nvPr>
        </p:nvSpPr>
        <p:spPr>
          <a:xfrm>
            <a:off x="822960" y="286603"/>
            <a:ext cx="7543800" cy="1450757"/>
          </a:xfrm>
        </p:spPr>
        <p:txBody>
          <a:bodyPr>
            <a:normAutofit/>
          </a:bodyPr>
          <a:lstStyle/>
          <a:p>
            <a:r>
              <a:rPr lang="en-IN" b="1" dirty="0">
                <a:latin typeface="Aptos" panose="020B0004020202020204" pitchFamily="34" charset="0"/>
              </a:rPr>
              <a:t>Group Management </a:t>
            </a:r>
            <a:endParaRPr b="1" dirty="0">
              <a:latin typeface="Aptos" panose="020B0004020202020204" pitchFamily="34" charset="0"/>
            </a:endParaRPr>
          </a:p>
        </p:txBody>
      </p:sp>
      <p:pic>
        <p:nvPicPr>
          <p:cNvPr id="7" name="Graphic 6" descr="Users">
            <a:extLst>
              <a:ext uri="{FF2B5EF4-FFF2-40B4-BE49-F238E27FC236}">
                <a16:creationId xmlns:a16="http://schemas.microsoft.com/office/drawing/2014/main" id="{ADCAD358-CCC8-4517-98FF-8D521AE0B5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7324" y="2491200"/>
            <a:ext cx="2321247" cy="2321247"/>
          </a:xfrm>
          <a:prstGeom prst="rect">
            <a:avLst/>
          </a:prstGeom>
        </p:spPr>
      </p:pic>
      <p:sp>
        <p:nvSpPr>
          <p:cNvPr id="3" name="Content Placeholder 2">
            <a:extLst>
              <a:ext uri="{FF2B5EF4-FFF2-40B4-BE49-F238E27FC236}">
                <a16:creationId xmlns:a16="http://schemas.microsoft.com/office/drawing/2014/main" id="{E6300D66-307F-BB5B-1880-D959FDA1C7AF}"/>
              </a:ext>
            </a:extLst>
          </p:cNvPr>
          <p:cNvSpPr>
            <a:spLocks noGrp="1"/>
          </p:cNvSpPr>
          <p:nvPr>
            <p:ph idx="1"/>
          </p:nvPr>
        </p:nvSpPr>
        <p:spPr>
          <a:xfrm>
            <a:off x="3284525" y="1845734"/>
            <a:ext cx="5735117" cy="4467284"/>
          </a:xfrm>
        </p:spPr>
        <p:txBody>
          <a:bodyPr>
            <a:noAutofit/>
          </a:bodyPr>
          <a:lstStyle/>
          <a:p>
            <a:r>
              <a:rPr lang="en-US" dirty="0">
                <a:latin typeface="Aptos" panose="020B0004020202020204" pitchFamily="34" charset="0"/>
              </a:rPr>
              <a:t>Groups represent teams of partners collaborating with an investee.</a:t>
            </a:r>
          </a:p>
          <a:p>
            <a:r>
              <a:rPr lang="en-US" b="1" u="sng" dirty="0">
                <a:latin typeface="Aptos" panose="020B0004020202020204" pitchFamily="34" charset="0"/>
              </a:rPr>
              <a:t>Features</a:t>
            </a:r>
            <a:endParaRPr lang="en-US" u="sng" dirty="0">
              <a:latin typeface="Aptos" panose="020B0004020202020204" pitchFamily="34" charset="0"/>
            </a:endParaRPr>
          </a:p>
          <a:p>
            <a:pPr>
              <a:buFont typeface="Wingdings" panose="05000000000000000000" pitchFamily="2" charset="2"/>
              <a:buChar char="v"/>
            </a:pPr>
            <a:r>
              <a:rPr lang="en-US" dirty="0">
                <a:latin typeface="Aptos" panose="020B0004020202020204" pitchFamily="34" charset="0"/>
              </a:rPr>
              <a:t> Create groups linked to an investee</a:t>
            </a:r>
          </a:p>
          <a:p>
            <a:pPr>
              <a:buFont typeface="Wingdings" panose="05000000000000000000" pitchFamily="2" charset="2"/>
              <a:buChar char="v"/>
            </a:pPr>
            <a:r>
              <a:rPr lang="en-US" dirty="0">
                <a:latin typeface="Aptos" panose="020B0004020202020204" pitchFamily="34" charset="0"/>
              </a:rPr>
              <a:t> Define group types: Mentorship, Board, Skills  Training, Fund Committee, Operations, Outreach</a:t>
            </a:r>
          </a:p>
          <a:p>
            <a:pPr>
              <a:buFont typeface="Wingdings" panose="05000000000000000000" pitchFamily="2" charset="2"/>
              <a:buChar char="v"/>
            </a:pPr>
            <a:r>
              <a:rPr lang="en-US" dirty="0">
                <a:latin typeface="Aptos" panose="020B0004020202020204" pitchFamily="34" charset="0"/>
              </a:rPr>
              <a:t> Add or remove partners from groups</a:t>
            </a:r>
          </a:p>
          <a:p>
            <a:pPr>
              <a:buFont typeface="Wingdings" panose="05000000000000000000" pitchFamily="2" charset="2"/>
              <a:buChar char="v"/>
            </a:pPr>
            <a:r>
              <a:rPr lang="en-US" dirty="0">
                <a:latin typeface="Aptos" panose="020B0004020202020204" pitchFamily="34" charset="0"/>
              </a:rPr>
              <a:t> Expandable view to see group members</a:t>
            </a:r>
          </a:p>
          <a:p>
            <a:r>
              <a:rPr lang="en-US" b="1" u="sng" dirty="0">
                <a:latin typeface="Aptos" panose="020B0004020202020204" pitchFamily="34" charset="0"/>
              </a:rPr>
              <a:t>Benefit</a:t>
            </a:r>
            <a:endParaRPr lang="en-US" u="sng" dirty="0">
              <a:latin typeface="Aptos" panose="020B0004020202020204" pitchFamily="34" charset="0"/>
            </a:endParaRPr>
          </a:p>
          <a:p>
            <a:pPr>
              <a:buFont typeface="Wingdings" panose="05000000000000000000" pitchFamily="2" charset="2"/>
              <a:buChar char="Ø"/>
            </a:pPr>
            <a:r>
              <a:rPr lang="en-US" dirty="0">
                <a:latin typeface="Aptos" panose="020B0004020202020204" pitchFamily="34" charset="0"/>
              </a:rPr>
              <a:t> Enables quick scheduling by attaching </a:t>
            </a:r>
            <a:r>
              <a:rPr lang="en-US" b="1" dirty="0">
                <a:latin typeface="Aptos" panose="020B0004020202020204" pitchFamily="34" charset="0"/>
              </a:rPr>
              <a:t>all group partners to meetings at once</a:t>
            </a:r>
            <a:r>
              <a:rPr lang="en-US" dirty="0">
                <a:latin typeface="Aptos" panose="020B0004020202020204" pitchFamily="34" charset="0"/>
              </a:rPr>
              <a:t>.</a:t>
            </a:r>
          </a:p>
        </p:txBody>
      </p:sp>
    </p:spTree>
    <p:extLst>
      <p:ext uri="{BB962C8B-B14F-4D97-AF65-F5344CB8AC3E}">
        <p14:creationId xmlns:p14="http://schemas.microsoft.com/office/powerpoint/2010/main" val="1115224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5AC78E-D99D-D7D9-A053-792BF500658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C6E8B4-A476-65F2-8568-3E0EB0ADC230}"/>
              </a:ext>
            </a:extLst>
          </p:cNvPr>
          <p:cNvSpPr>
            <a:spLocks noGrp="1"/>
          </p:cNvSpPr>
          <p:nvPr>
            <p:ph type="title"/>
          </p:nvPr>
        </p:nvSpPr>
        <p:spPr>
          <a:xfrm>
            <a:off x="3886200" y="634946"/>
            <a:ext cx="4776107" cy="1450757"/>
          </a:xfrm>
        </p:spPr>
        <p:txBody>
          <a:bodyPr>
            <a:normAutofit/>
          </a:bodyPr>
          <a:lstStyle/>
          <a:p>
            <a:r>
              <a:rPr lang="en-IN" b="1" dirty="0">
                <a:latin typeface="Aptos" panose="020B0004020202020204" pitchFamily="34" charset="0"/>
              </a:rPr>
              <a:t>Appointment Scheduling</a:t>
            </a:r>
            <a:endParaRPr b="1" dirty="0">
              <a:latin typeface="Aptos" panose="020B0004020202020204" pitchFamily="34" charset="0"/>
            </a:endParaRPr>
          </a:p>
        </p:txBody>
      </p:sp>
      <p:pic>
        <p:nvPicPr>
          <p:cNvPr id="5" name="Picture 4" descr="Side view of a white calendar">
            <a:extLst>
              <a:ext uri="{FF2B5EF4-FFF2-40B4-BE49-F238E27FC236}">
                <a16:creationId xmlns:a16="http://schemas.microsoft.com/office/drawing/2014/main" id="{3E02EE43-2FC5-C42C-B139-1CDAB322F998}"/>
              </a:ext>
            </a:extLst>
          </p:cNvPr>
          <p:cNvPicPr>
            <a:picLocks noChangeAspect="1"/>
          </p:cNvPicPr>
          <p:nvPr/>
        </p:nvPicPr>
        <p:blipFill>
          <a:blip r:embed="rId2"/>
          <a:srcRect l="57669" r="8416" b="1"/>
          <a:stretch>
            <a:fillRect/>
          </a:stretch>
        </p:blipFill>
        <p:spPr>
          <a:xfrm>
            <a:off x="20" y="-12128"/>
            <a:ext cx="3490702" cy="6870127"/>
          </a:xfrm>
          <a:prstGeom prst="rect">
            <a:avLst/>
          </a:prstGeom>
        </p:spPr>
      </p:pic>
      <p:cxnSp>
        <p:nvCxnSpPr>
          <p:cNvPr id="13" name="Straight Connector 1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65712" y="2085703"/>
            <a:ext cx="4628015"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71591B8-76F5-74AC-40AB-D85F93803545}"/>
              </a:ext>
            </a:extLst>
          </p:cNvPr>
          <p:cNvSpPr>
            <a:spLocks noGrp="1"/>
          </p:cNvSpPr>
          <p:nvPr>
            <p:ph idx="1"/>
          </p:nvPr>
        </p:nvSpPr>
        <p:spPr>
          <a:xfrm>
            <a:off x="3886200" y="2085703"/>
            <a:ext cx="5118811" cy="4772294"/>
          </a:xfrm>
        </p:spPr>
        <p:txBody>
          <a:bodyPr>
            <a:noAutofit/>
          </a:bodyPr>
          <a:lstStyle/>
          <a:p>
            <a:r>
              <a:rPr lang="en-US" sz="1800" dirty="0">
                <a:latin typeface="Aptos" panose="020B0004020202020204" pitchFamily="34" charset="0"/>
              </a:rPr>
              <a:t>The system includes a </a:t>
            </a:r>
            <a:r>
              <a:rPr lang="en-US" sz="1800" b="1" dirty="0">
                <a:latin typeface="Aptos" panose="020B0004020202020204" pitchFamily="34" charset="0"/>
              </a:rPr>
              <a:t>calendar-based meeting scheduler</a:t>
            </a:r>
            <a:r>
              <a:rPr lang="en-US" sz="1800" dirty="0">
                <a:latin typeface="Aptos" panose="020B0004020202020204" pitchFamily="34" charset="0"/>
              </a:rPr>
              <a:t>.</a:t>
            </a:r>
          </a:p>
          <a:p>
            <a:r>
              <a:rPr lang="en-US" sz="1800" b="1" u="sng" dirty="0">
                <a:latin typeface="Aptos" panose="020B0004020202020204" pitchFamily="34" charset="0"/>
              </a:rPr>
              <a:t>Calendar Interface</a:t>
            </a:r>
            <a:endParaRPr lang="en-US" sz="1800" u="sng" dirty="0">
              <a:latin typeface="Aptos" panose="020B0004020202020204" pitchFamily="34" charset="0"/>
            </a:endParaRPr>
          </a:p>
          <a:p>
            <a:r>
              <a:rPr lang="en-US" sz="1800" dirty="0">
                <a:latin typeface="Aptos" panose="020B0004020202020204" pitchFamily="34" charset="0"/>
              </a:rPr>
              <a:t>1) Monthly calendar view                                                          2) List view for browsing appointments</a:t>
            </a:r>
          </a:p>
          <a:p>
            <a:r>
              <a:rPr lang="en-US" sz="1800" b="1" u="sng" dirty="0">
                <a:latin typeface="Aptos" panose="020B0004020202020204" pitchFamily="34" charset="0"/>
              </a:rPr>
              <a:t>Appointment Creation</a:t>
            </a:r>
            <a:br>
              <a:rPr lang="en-US" sz="1800" dirty="0">
                <a:latin typeface="Aptos" panose="020B0004020202020204" pitchFamily="34" charset="0"/>
              </a:rPr>
            </a:br>
            <a:r>
              <a:rPr lang="en-US" sz="1800" dirty="0">
                <a:latin typeface="Aptos" panose="020B0004020202020204" pitchFamily="34" charset="0"/>
              </a:rPr>
              <a:t>Admins can schedule meetings with:</a:t>
            </a:r>
          </a:p>
          <a:p>
            <a:r>
              <a:rPr lang="en-US" sz="1800" dirty="0">
                <a:latin typeface="Aptos" panose="020B0004020202020204" pitchFamily="34" charset="0"/>
              </a:rPr>
              <a:t>1) Meeting type 2) Date &amp; time 3) Linked investee         4) Assigned partners</a:t>
            </a:r>
          </a:p>
          <a:p>
            <a:r>
              <a:rPr lang="en-US" sz="1800" b="1" u="sng" dirty="0">
                <a:latin typeface="Aptos" panose="020B0004020202020204" pitchFamily="34" charset="0"/>
              </a:rPr>
              <a:t>Meeting Status</a:t>
            </a:r>
            <a:endParaRPr lang="en-US" sz="1800" u="sng" dirty="0">
              <a:latin typeface="Aptos" panose="020B0004020202020204" pitchFamily="34" charset="0"/>
            </a:endParaRPr>
          </a:p>
          <a:p>
            <a:r>
              <a:rPr lang="en-US" sz="1800" dirty="0">
                <a:latin typeface="Aptos" panose="020B0004020202020204" pitchFamily="34" charset="0"/>
              </a:rPr>
              <a:t>1) Pending 2) Completed 3) Cancelled</a:t>
            </a:r>
          </a:p>
          <a:p>
            <a:r>
              <a:rPr lang="en-US" sz="1800" b="1" u="sng" dirty="0">
                <a:latin typeface="Aptos" panose="020B0004020202020204" pitchFamily="34" charset="0"/>
              </a:rPr>
              <a:t>Attendance Tracking</a:t>
            </a:r>
            <a:endParaRPr lang="en-US" sz="1800" u="sng" dirty="0">
              <a:latin typeface="Aptos" panose="020B0004020202020204" pitchFamily="34" charset="0"/>
            </a:endParaRPr>
          </a:p>
          <a:p>
            <a:r>
              <a:rPr lang="en-US" sz="1800" dirty="0">
                <a:latin typeface="Aptos" panose="020B0004020202020204" pitchFamily="34" charset="0"/>
              </a:rPr>
              <a:t>Mark each partner as </a:t>
            </a:r>
            <a:r>
              <a:rPr lang="en-US" sz="1800" b="1" dirty="0">
                <a:latin typeface="Aptos" panose="020B0004020202020204" pitchFamily="34" charset="0"/>
              </a:rPr>
              <a:t>Present ✔ or Absent ✖</a:t>
            </a:r>
            <a:endParaRPr lang="en-US" sz="1800" dirty="0">
              <a:latin typeface="Aptos" panose="020B0004020202020204" pitchFamily="34" charset="0"/>
            </a:endParaRPr>
          </a:p>
        </p:txBody>
      </p:sp>
    </p:spTree>
    <p:extLst>
      <p:ext uri="{BB962C8B-B14F-4D97-AF65-F5344CB8AC3E}">
        <p14:creationId xmlns:p14="http://schemas.microsoft.com/office/powerpoint/2010/main" val="421295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784F6-87D0-4A8F-2007-989C0F67B0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BD67CE-68DF-A349-1ADA-FDC54D0318D9}"/>
              </a:ext>
            </a:extLst>
          </p:cNvPr>
          <p:cNvSpPr>
            <a:spLocks noGrp="1"/>
          </p:cNvSpPr>
          <p:nvPr>
            <p:ph type="title"/>
          </p:nvPr>
        </p:nvSpPr>
        <p:spPr/>
        <p:txBody>
          <a:bodyPr/>
          <a:lstStyle/>
          <a:p>
            <a:r>
              <a:rPr lang="en-IN" b="1" dirty="0">
                <a:latin typeface="Aptos" panose="020B0004020202020204" pitchFamily="34" charset="0"/>
              </a:rPr>
              <a:t>Recurring Appointments (Core Feature)</a:t>
            </a:r>
            <a:endParaRPr b="1" dirty="0">
              <a:latin typeface="Aptos" panose="020B0004020202020204" pitchFamily="34" charset="0"/>
            </a:endParaRPr>
          </a:p>
        </p:txBody>
      </p:sp>
      <p:sp>
        <p:nvSpPr>
          <p:cNvPr id="3" name="Content Placeholder 2">
            <a:extLst>
              <a:ext uri="{FF2B5EF4-FFF2-40B4-BE49-F238E27FC236}">
                <a16:creationId xmlns:a16="http://schemas.microsoft.com/office/drawing/2014/main" id="{4383A6BC-10B5-63CF-C469-1B5D38BAA0FC}"/>
              </a:ext>
            </a:extLst>
          </p:cNvPr>
          <p:cNvSpPr>
            <a:spLocks noGrp="1"/>
          </p:cNvSpPr>
          <p:nvPr>
            <p:ph idx="1"/>
          </p:nvPr>
        </p:nvSpPr>
        <p:spPr>
          <a:xfrm>
            <a:off x="822959" y="1845734"/>
            <a:ext cx="7962596" cy="4540436"/>
          </a:xfrm>
        </p:spPr>
        <p:txBody>
          <a:bodyPr>
            <a:normAutofit fontScale="92500" lnSpcReduction="10000"/>
          </a:bodyPr>
          <a:lstStyle/>
          <a:p>
            <a:r>
              <a:rPr lang="en-US" dirty="0">
                <a:latin typeface="Aptos" panose="020B0004020202020204" pitchFamily="34" charset="0"/>
              </a:rPr>
              <a:t>Many SVP meetings repeat </a:t>
            </a:r>
            <a:r>
              <a:rPr lang="en-US" b="1" dirty="0">
                <a:latin typeface="Aptos" panose="020B0004020202020204" pitchFamily="34" charset="0"/>
              </a:rPr>
              <a:t>weekly or monthly</a:t>
            </a:r>
            <a:r>
              <a:rPr lang="en-US" dirty="0">
                <a:latin typeface="Aptos" panose="020B0004020202020204" pitchFamily="34" charset="0"/>
              </a:rPr>
              <a:t>.</a:t>
            </a:r>
          </a:p>
          <a:p>
            <a:r>
              <a:rPr lang="en-US" dirty="0">
                <a:latin typeface="Aptos" panose="020B0004020202020204" pitchFamily="34" charset="0"/>
              </a:rPr>
              <a:t>Scheduling these manually leads to errors and extra work.</a:t>
            </a:r>
          </a:p>
          <a:p>
            <a:r>
              <a:rPr lang="en-US" b="1" u="sng" dirty="0">
                <a:latin typeface="Aptos" panose="020B0004020202020204" pitchFamily="34" charset="0"/>
              </a:rPr>
              <a:t>Our Solution</a:t>
            </a:r>
          </a:p>
          <a:p>
            <a:r>
              <a:rPr lang="en-US" dirty="0">
                <a:latin typeface="Aptos" panose="020B0004020202020204" pitchFamily="34" charset="0"/>
              </a:rPr>
              <a:t>We implemented </a:t>
            </a:r>
            <a:r>
              <a:rPr lang="en-US" b="1" dirty="0">
                <a:latin typeface="Aptos" panose="020B0004020202020204" pitchFamily="34" charset="0"/>
              </a:rPr>
              <a:t>Recurring Appointment Templates</a:t>
            </a:r>
            <a:r>
              <a:rPr lang="en-US" dirty="0">
                <a:latin typeface="Aptos" panose="020B0004020202020204" pitchFamily="34" charset="0"/>
              </a:rPr>
              <a:t>.</a:t>
            </a:r>
          </a:p>
          <a:p>
            <a:r>
              <a:rPr lang="en-US" b="1" u="sng" dirty="0">
                <a:latin typeface="Aptos" panose="020B0004020202020204" pitchFamily="34" charset="0"/>
              </a:rPr>
              <a:t>Implementation</a:t>
            </a:r>
          </a:p>
          <a:p>
            <a:r>
              <a:rPr lang="en-US" dirty="0">
                <a:latin typeface="Aptos" panose="020B0004020202020204" pitchFamily="34" charset="0"/>
              </a:rPr>
              <a:t>• Uses </a:t>
            </a:r>
            <a:r>
              <a:rPr lang="en-US" b="1" dirty="0" err="1">
                <a:latin typeface="Aptos" panose="020B0004020202020204" pitchFamily="34" charset="0"/>
              </a:rPr>
              <a:t>RRule</a:t>
            </a:r>
            <a:r>
              <a:rPr lang="en-US" b="1" dirty="0">
                <a:latin typeface="Aptos" panose="020B0004020202020204" pitchFamily="34" charset="0"/>
              </a:rPr>
              <a:t> standard</a:t>
            </a:r>
            <a:br>
              <a:rPr lang="en-US" dirty="0">
                <a:latin typeface="Aptos" panose="020B0004020202020204" pitchFamily="34" charset="0"/>
              </a:rPr>
            </a:br>
            <a:r>
              <a:rPr lang="en-US" dirty="0">
                <a:latin typeface="Aptos" panose="020B0004020202020204" pitchFamily="34" charset="0"/>
              </a:rPr>
              <a:t>• Supports:</a:t>
            </a:r>
          </a:p>
          <a:p>
            <a:r>
              <a:rPr lang="en-US" dirty="0">
                <a:latin typeface="Aptos" panose="020B0004020202020204" pitchFamily="34" charset="0"/>
              </a:rPr>
              <a:t>1) Weekly meetings 2) Biweekly meetings 3) Monthly meetings</a:t>
            </a:r>
          </a:p>
          <a:p>
            <a:r>
              <a:rPr lang="en-US" b="1" dirty="0">
                <a:latin typeface="Aptos" panose="020B0004020202020204" pitchFamily="34" charset="0"/>
              </a:rPr>
              <a:t>Example</a:t>
            </a:r>
          </a:p>
          <a:p>
            <a:r>
              <a:rPr lang="en-US" dirty="0">
                <a:latin typeface="Aptos" panose="020B0004020202020204" pitchFamily="34" charset="0"/>
              </a:rPr>
              <a:t>Mentorship meeting</a:t>
            </a:r>
            <a:br>
              <a:rPr lang="en-US" dirty="0">
                <a:latin typeface="Aptos" panose="020B0004020202020204" pitchFamily="34" charset="0"/>
              </a:rPr>
            </a:br>
            <a:r>
              <a:rPr lang="en-US" dirty="0">
                <a:latin typeface="Aptos" panose="020B0004020202020204" pitchFamily="34" charset="0"/>
              </a:rPr>
              <a:t>Every Monday</a:t>
            </a:r>
            <a:br>
              <a:rPr lang="en-US" dirty="0">
                <a:latin typeface="Aptos" panose="020B0004020202020204" pitchFamily="34" charset="0"/>
              </a:rPr>
            </a:br>
            <a:r>
              <a:rPr lang="en-US" dirty="0">
                <a:latin typeface="Aptos" panose="020B0004020202020204" pitchFamily="34" charset="0"/>
              </a:rPr>
              <a:t>10:00–11:00 AM</a:t>
            </a:r>
          </a:p>
        </p:txBody>
      </p:sp>
    </p:spTree>
    <p:extLst>
      <p:ext uri="{BB962C8B-B14F-4D97-AF65-F5344CB8AC3E}">
        <p14:creationId xmlns:p14="http://schemas.microsoft.com/office/powerpoint/2010/main" val="2867251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7F2CC9-C1E2-037B-E382-99DD895EEE15}"/>
            </a:ext>
          </a:extLst>
        </p:cNvPr>
        <p:cNvGrpSpPr/>
        <p:nvPr/>
      </p:nvGrpSpPr>
      <p:grpSpPr>
        <a:xfrm>
          <a:off x="0" y="0"/>
          <a:ext cx="0" cy="0"/>
          <a:chOff x="0" y="0"/>
          <a:chExt cx="0" cy="0"/>
        </a:xfrm>
      </p:grpSpPr>
      <p:pic>
        <p:nvPicPr>
          <p:cNvPr id="5" name="Picture 4" descr="Financial graphs on a dark display">
            <a:extLst>
              <a:ext uri="{FF2B5EF4-FFF2-40B4-BE49-F238E27FC236}">
                <a16:creationId xmlns:a16="http://schemas.microsoft.com/office/drawing/2014/main" id="{FC969C43-17F8-816B-17C8-922B1CC7291C}"/>
              </a:ext>
            </a:extLst>
          </p:cNvPr>
          <p:cNvPicPr>
            <a:picLocks noChangeAspect="1"/>
          </p:cNvPicPr>
          <p:nvPr/>
        </p:nvPicPr>
        <p:blipFill>
          <a:blip r:embed="rId2">
            <a:duotone>
              <a:schemeClr val="bg2">
                <a:shade val="45000"/>
                <a:satMod val="135000"/>
              </a:schemeClr>
              <a:prstClr val="white"/>
            </a:duotone>
            <a:alphaModFix amt="35000"/>
          </a:blip>
          <a:srcRect l="5685" r="10982"/>
          <a:stretch>
            <a:fillRect/>
          </a:stretch>
        </p:blipFill>
        <p:spPr>
          <a:xfrm>
            <a:off x="20" y="10"/>
            <a:ext cx="9143980" cy="6857990"/>
          </a:xfrm>
          <a:prstGeom prst="rect">
            <a:avLst/>
          </a:prstGeom>
        </p:spPr>
      </p:pic>
      <p:cxnSp>
        <p:nvCxnSpPr>
          <p:cNvPr id="27" name="Straight Connector 26">
            <a:extLst>
              <a:ext uri="{FF2B5EF4-FFF2-40B4-BE49-F238E27FC236}">
                <a16:creationId xmlns:a16="http://schemas.microsoft.com/office/drawing/2014/main" id="{E9F7CBA9-9D9B-479F-AAB5-BF785971CD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149" y="1737845"/>
            <a:ext cx="747522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E960434-C41D-8939-CC7E-D23FCB27BA1E}"/>
              </a:ext>
            </a:extLst>
          </p:cNvPr>
          <p:cNvSpPr>
            <a:spLocks noGrp="1"/>
          </p:cNvSpPr>
          <p:nvPr>
            <p:ph type="title"/>
          </p:nvPr>
        </p:nvSpPr>
        <p:spPr>
          <a:xfrm>
            <a:off x="822960" y="286603"/>
            <a:ext cx="7543800" cy="1450757"/>
          </a:xfrm>
        </p:spPr>
        <p:txBody>
          <a:bodyPr>
            <a:normAutofit/>
          </a:bodyPr>
          <a:lstStyle/>
          <a:p>
            <a:r>
              <a:rPr lang="en-IN" b="1">
                <a:latin typeface="Aptos" panose="020B0004020202020204" pitchFamily="34" charset="0"/>
              </a:rPr>
              <a:t>Analytics Dashboard</a:t>
            </a:r>
          </a:p>
        </p:txBody>
      </p:sp>
      <p:sp>
        <p:nvSpPr>
          <p:cNvPr id="3" name="Content Placeholder 2">
            <a:extLst>
              <a:ext uri="{FF2B5EF4-FFF2-40B4-BE49-F238E27FC236}">
                <a16:creationId xmlns:a16="http://schemas.microsoft.com/office/drawing/2014/main" id="{1D5558CD-1765-4C80-3D71-98B670B2C7BC}"/>
              </a:ext>
            </a:extLst>
          </p:cNvPr>
          <p:cNvSpPr>
            <a:spLocks noGrp="1"/>
          </p:cNvSpPr>
          <p:nvPr>
            <p:ph idx="1"/>
          </p:nvPr>
        </p:nvSpPr>
        <p:spPr>
          <a:xfrm>
            <a:off x="822960" y="1845733"/>
            <a:ext cx="7904074" cy="4408761"/>
          </a:xfrm>
        </p:spPr>
        <p:txBody>
          <a:bodyPr>
            <a:normAutofit/>
          </a:bodyPr>
          <a:lstStyle/>
          <a:p>
            <a:r>
              <a:rPr lang="en-US" dirty="0">
                <a:latin typeface="Aptos" panose="020B0004020202020204" pitchFamily="34" charset="0"/>
              </a:rPr>
              <a:t>The system includes a dashboard that provides </a:t>
            </a:r>
            <a:r>
              <a:rPr lang="en-US" b="1" dirty="0">
                <a:latin typeface="Aptos" panose="020B0004020202020204" pitchFamily="34" charset="0"/>
              </a:rPr>
              <a:t>engagement insights</a:t>
            </a:r>
            <a:r>
              <a:rPr lang="en-US" dirty="0">
                <a:latin typeface="Aptos" panose="020B0004020202020204" pitchFamily="34" charset="0"/>
              </a:rPr>
              <a:t>.</a:t>
            </a:r>
          </a:p>
          <a:p>
            <a:r>
              <a:rPr lang="en-US" b="1" u="sng" dirty="0">
                <a:latin typeface="Aptos" panose="020B0004020202020204" pitchFamily="34" charset="0"/>
              </a:rPr>
              <a:t>Key Metrics</a:t>
            </a:r>
          </a:p>
          <a:p>
            <a:r>
              <a:rPr lang="en-US" dirty="0">
                <a:latin typeface="Aptos" panose="020B0004020202020204" pitchFamily="34" charset="0"/>
              </a:rPr>
              <a:t>• Total meetings conducted</a:t>
            </a:r>
            <a:br>
              <a:rPr lang="en-US" dirty="0">
                <a:latin typeface="Aptos" panose="020B0004020202020204" pitchFamily="34" charset="0"/>
              </a:rPr>
            </a:br>
            <a:r>
              <a:rPr lang="en-US" dirty="0">
                <a:latin typeface="Aptos" panose="020B0004020202020204" pitchFamily="34" charset="0"/>
              </a:rPr>
              <a:t>• Number of active partners</a:t>
            </a:r>
            <a:br>
              <a:rPr lang="en-US" dirty="0">
                <a:latin typeface="Aptos" panose="020B0004020202020204" pitchFamily="34" charset="0"/>
              </a:rPr>
            </a:br>
            <a:r>
              <a:rPr lang="en-US" dirty="0">
                <a:latin typeface="Aptos" panose="020B0004020202020204" pitchFamily="34" charset="0"/>
              </a:rPr>
              <a:t>• Total volunteer hours</a:t>
            </a:r>
            <a:br>
              <a:rPr lang="en-US" dirty="0">
                <a:latin typeface="Aptos" panose="020B0004020202020204" pitchFamily="34" charset="0"/>
              </a:rPr>
            </a:br>
            <a:r>
              <a:rPr lang="en-US" dirty="0">
                <a:latin typeface="Aptos" panose="020B0004020202020204" pitchFamily="34" charset="0"/>
              </a:rPr>
              <a:t>• Active investee organizations</a:t>
            </a:r>
          </a:p>
          <a:p>
            <a:r>
              <a:rPr lang="en-US" b="1" u="sng" dirty="0">
                <a:latin typeface="Aptos" panose="020B0004020202020204" pitchFamily="34" charset="0"/>
              </a:rPr>
              <a:t>Visualizations</a:t>
            </a:r>
          </a:p>
          <a:p>
            <a:r>
              <a:rPr lang="en-US" dirty="0">
                <a:latin typeface="Aptos" panose="020B0004020202020204" pitchFamily="34" charset="0"/>
              </a:rPr>
              <a:t>• </a:t>
            </a:r>
            <a:r>
              <a:rPr lang="en-US" b="1" dirty="0">
                <a:latin typeface="Aptos" panose="020B0004020202020204" pitchFamily="34" charset="0"/>
              </a:rPr>
              <a:t>Attendance by Partner</a:t>
            </a:r>
            <a:r>
              <a:rPr lang="en-US" dirty="0">
                <a:latin typeface="Aptos" panose="020B0004020202020204" pitchFamily="34" charset="0"/>
              </a:rPr>
              <a:t> – bar chart</a:t>
            </a:r>
            <a:br>
              <a:rPr lang="en-US" dirty="0">
                <a:latin typeface="Aptos" panose="020B0004020202020204" pitchFamily="34" charset="0"/>
              </a:rPr>
            </a:br>
            <a:r>
              <a:rPr lang="en-US" dirty="0">
                <a:latin typeface="Aptos" panose="020B0004020202020204" pitchFamily="34" charset="0"/>
              </a:rPr>
              <a:t>• </a:t>
            </a:r>
            <a:r>
              <a:rPr lang="en-US" b="1" dirty="0">
                <a:latin typeface="Aptos" panose="020B0004020202020204" pitchFamily="34" charset="0"/>
              </a:rPr>
              <a:t>Monthly Engagement Trends</a:t>
            </a:r>
            <a:r>
              <a:rPr lang="en-US" dirty="0">
                <a:latin typeface="Aptos" panose="020B0004020202020204" pitchFamily="34" charset="0"/>
              </a:rPr>
              <a:t> – time series chart</a:t>
            </a:r>
            <a:br>
              <a:rPr lang="en-US" dirty="0">
                <a:latin typeface="Aptos" panose="020B0004020202020204" pitchFamily="34" charset="0"/>
              </a:rPr>
            </a:br>
            <a:r>
              <a:rPr lang="en-US" dirty="0">
                <a:latin typeface="Aptos" panose="020B0004020202020204" pitchFamily="34" charset="0"/>
              </a:rPr>
              <a:t>• </a:t>
            </a:r>
            <a:r>
              <a:rPr lang="en-US" b="1" dirty="0">
                <a:latin typeface="Aptos" panose="020B0004020202020204" pitchFamily="34" charset="0"/>
              </a:rPr>
              <a:t>Meeting Categories</a:t>
            </a:r>
            <a:r>
              <a:rPr lang="en-US" dirty="0">
                <a:latin typeface="Aptos" panose="020B0004020202020204" pitchFamily="34" charset="0"/>
              </a:rPr>
              <a:t> – breakdown by meeting type</a:t>
            </a:r>
            <a:br>
              <a:rPr lang="en-US" dirty="0">
                <a:latin typeface="Aptos" panose="020B0004020202020204" pitchFamily="34" charset="0"/>
              </a:rPr>
            </a:br>
            <a:r>
              <a:rPr lang="en-US" dirty="0">
                <a:latin typeface="Aptos" panose="020B0004020202020204" pitchFamily="34" charset="0"/>
              </a:rPr>
              <a:t>• </a:t>
            </a:r>
            <a:r>
              <a:rPr lang="en-US" b="1" dirty="0">
                <a:latin typeface="Aptos" panose="020B0004020202020204" pitchFamily="34" charset="0"/>
              </a:rPr>
              <a:t>Investee Analytics</a:t>
            </a:r>
            <a:r>
              <a:rPr lang="en-US" dirty="0">
                <a:latin typeface="Aptos" panose="020B0004020202020204" pitchFamily="34" charset="0"/>
              </a:rPr>
              <a:t> – engagement per organization</a:t>
            </a:r>
          </a:p>
          <a:p>
            <a:r>
              <a:rPr lang="en-US" dirty="0">
                <a:latin typeface="Aptos" panose="020B0004020202020204" pitchFamily="34" charset="0"/>
              </a:rPr>
              <a:t>These analytics help leadership </a:t>
            </a:r>
            <a:r>
              <a:rPr lang="en-US" b="1" dirty="0">
                <a:latin typeface="Aptos" panose="020B0004020202020204" pitchFamily="34" charset="0"/>
              </a:rPr>
              <a:t>make data-driven decisions.</a:t>
            </a:r>
            <a:endParaRPr lang="en-US" dirty="0">
              <a:latin typeface="Aptos" panose="020B0004020202020204" pitchFamily="34" charset="0"/>
            </a:endParaRPr>
          </a:p>
        </p:txBody>
      </p:sp>
      <p:sp>
        <p:nvSpPr>
          <p:cNvPr id="29" name="Rectangle 28">
            <a:extLst>
              <a:ext uri="{FF2B5EF4-FFF2-40B4-BE49-F238E27FC236}">
                <a16:creationId xmlns:a16="http://schemas.microsoft.com/office/drawing/2014/main" id="{154480E5-678B-478F-9170-46502C5FB3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3989"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1" name="Rectangle 30">
            <a:extLst>
              <a:ext uri="{FF2B5EF4-FFF2-40B4-BE49-F238E27FC236}">
                <a16:creationId xmlns:a16="http://schemas.microsoft.com/office/drawing/2014/main" id="{B598D875-841B-47A7-B4C8-237DBCE2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045192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B9A448-1817-46BA-657E-9712F51E28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50650B-8F91-D40A-63E5-8A83B787E127}"/>
              </a:ext>
            </a:extLst>
          </p:cNvPr>
          <p:cNvSpPr>
            <a:spLocks noGrp="1"/>
          </p:cNvSpPr>
          <p:nvPr>
            <p:ph type="title"/>
          </p:nvPr>
        </p:nvSpPr>
        <p:spPr>
          <a:xfrm>
            <a:off x="822960" y="286603"/>
            <a:ext cx="7543800" cy="1450757"/>
          </a:xfrm>
        </p:spPr>
        <p:txBody>
          <a:bodyPr>
            <a:normAutofit/>
          </a:bodyPr>
          <a:lstStyle/>
          <a:p>
            <a:r>
              <a:rPr lang="en-US" b="1" dirty="0">
                <a:latin typeface="Aptos" panose="020B0004020202020204" pitchFamily="34" charset="0"/>
              </a:rPr>
              <a:t>Progress So Far (Release 1)</a:t>
            </a:r>
            <a:endParaRPr b="1" dirty="0">
              <a:latin typeface="Aptos" panose="020B0004020202020204" pitchFamily="34" charset="0"/>
            </a:endParaRPr>
          </a:p>
        </p:txBody>
      </p:sp>
      <p:sp>
        <p:nvSpPr>
          <p:cNvPr id="3" name="Content Placeholder 2">
            <a:extLst>
              <a:ext uri="{FF2B5EF4-FFF2-40B4-BE49-F238E27FC236}">
                <a16:creationId xmlns:a16="http://schemas.microsoft.com/office/drawing/2014/main" id="{E62C72B8-B851-0D33-7ABD-FF6C3501B6E6}"/>
              </a:ext>
            </a:extLst>
          </p:cNvPr>
          <p:cNvSpPr>
            <a:spLocks noGrp="1"/>
          </p:cNvSpPr>
          <p:nvPr>
            <p:ph idx="1"/>
          </p:nvPr>
        </p:nvSpPr>
        <p:spPr>
          <a:xfrm>
            <a:off x="822958" y="1845734"/>
            <a:ext cx="5336440" cy="4372186"/>
          </a:xfrm>
        </p:spPr>
        <p:txBody>
          <a:bodyPr>
            <a:noAutofit/>
          </a:bodyPr>
          <a:lstStyle/>
          <a:p>
            <a:pPr>
              <a:buFont typeface="Wingdings" panose="05000000000000000000" pitchFamily="2" charset="2"/>
              <a:buChar char="Ø"/>
            </a:pPr>
            <a:r>
              <a:rPr lang="en-US" dirty="0">
                <a:latin typeface="Aptos" panose="020B0004020202020204" pitchFamily="34" charset="0"/>
              </a:rPr>
              <a:t> For Release 1, we have completed the major phases of the R1 SDLC including </a:t>
            </a:r>
            <a:r>
              <a:rPr lang="en-US" b="1" dirty="0">
                <a:latin typeface="Aptos" panose="020B0004020202020204" pitchFamily="34" charset="0"/>
              </a:rPr>
              <a:t>requirements elicitation, requirement specification, system architecture design, detailed design, and implementation</a:t>
            </a:r>
            <a:r>
              <a:rPr lang="en-US" dirty="0">
                <a:latin typeface="Aptos" panose="020B0004020202020204" pitchFamily="34" charset="0"/>
              </a:rPr>
              <a:t>. The core features of the SVP Partner Engagement Dashboard have been successfully developed.</a:t>
            </a:r>
          </a:p>
          <a:p>
            <a:pPr>
              <a:buFont typeface="Wingdings" panose="05000000000000000000" pitchFamily="2" charset="2"/>
              <a:buChar char="Ø"/>
            </a:pPr>
            <a:r>
              <a:rPr lang="en-US" dirty="0">
                <a:latin typeface="Aptos" panose="020B0004020202020204" pitchFamily="34" charset="0"/>
              </a:rPr>
              <a:t> At this stage, the project has progressed up to the </a:t>
            </a:r>
            <a:r>
              <a:rPr lang="en-US" b="1" dirty="0">
                <a:latin typeface="Aptos" panose="020B0004020202020204" pitchFamily="34" charset="0"/>
              </a:rPr>
              <a:t>unit testing phase</a:t>
            </a:r>
            <a:r>
              <a:rPr lang="en-US" dirty="0">
                <a:latin typeface="Aptos" panose="020B0004020202020204" pitchFamily="34" charset="0"/>
              </a:rPr>
              <a:t>, where individual components and modules of the system are being verified to ensure correct functionality. The system is now stable at the module level and ready to proceed to </a:t>
            </a:r>
            <a:r>
              <a:rPr lang="en-US" b="1" dirty="0">
                <a:latin typeface="Aptos" panose="020B0004020202020204" pitchFamily="34" charset="0"/>
              </a:rPr>
              <a:t>integration testing and further validation with the client</a:t>
            </a:r>
            <a:r>
              <a:rPr lang="en-US" dirty="0">
                <a:latin typeface="Aptos" panose="020B0004020202020204" pitchFamily="34" charset="0"/>
              </a:rPr>
              <a:t>.</a:t>
            </a:r>
          </a:p>
        </p:txBody>
      </p:sp>
      <p:pic>
        <p:nvPicPr>
          <p:cNvPr id="7" name="Graphic 6" descr="Presentation with Checklist">
            <a:extLst>
              <a:ext uri="{FF2B5EF4-FFF2-40B4-BE49-F238E27FC236}">
                <a16:creationId xmlns:a16="http://schemas.microsoft.com/office/drawing/2014/main" id="{CF17867D-D61A-3DE9-9213-AD6B62EAADF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15427" y="2476158"/>
            <a:ext cx="2351332" cy="2351332"/>
          </a:xfrm>
          <a:prstGeom prst="rect">
            <a:avLst/>
          </a:prstGeom>
        </p:spPr>
      </p:pic>
    </p:spTree>
    <p:extLst>
      <p:ext uri="{BB962C8B-B14F-4D97-AF65-F5344CB8AC3E}">
        <p14:creationId xmlns:p14="http://schemas.microsoft.com/office/powerpoint/2010/main" val="1256193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2F7591-FA49-1236-44F4-38F0E97D6E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3C9887-BFA4-41F0-68DB-A07D83DD9CD2}"/>
              </a:ext>
            </a:extLst>
          </p:cNvPr>
          <p:cNvSpPr>
            <a:spLocks noGrp="1"/>
          </p:cNvSpPr>
          <p:nvPr>
            <p:ph type="title"/>
          </p:nvPr>
        </p:nvSpPr>
        <p:spPr>
          <a:xfrm>
            <a:off x="822960" y="286603"/>
            <a:ext cx="7543800" cy="1450757"/>
          </a:xfrm>
        </p:spPr>
        <p:txBody>
          <a:bodyPr>
            <a:normAutofit/>
          </a:bodyPr>
          <a:lstStyle/>
          <a:p>
            <a:r>
              <a:rPr lang="en-IN" b="1" dirty="0">
                <a:latin typeface="Aptos" panose="020B0004020202020204" pitchFamily="34" charset="0"/>
              </a:rPr>
              <a:t>System Architecture</a:t>
            </a:r>
            <a:endParaRPr b="1" dirty="0">
              <a:latin typeface="Aptos" panose="020B0004020202020204" pitchFamily="34" charset="0"/>
            </a:endParaRPr>
          </a:p>
        </p:txBody>
      </p:sp>
      <p:sp>
        <p:nvSpPr>
          <p:cNvPr id="3" name="Content Placeholder 2">
            <a:extLst>
              <a:ext uri="{FF2B5EF4-FFF2-40B4-BE49-F238E27FC236}">
                <a16:creationId xmlns:a16="http://schemas.microsoft.com/office/drawing/2014/main" id="{E75F38DF-B425-604F-588F-31A93EF78419}"/>
              </a:ext>
            </a:extLst>
          </p:cNvPr>
          <p:cNvSpPr>
            <a:spLocks noGrp="1"/>
          </p:cNvSpPr>
          <p:nvPr>
            <p:ph idx="1"/>
          </p:nvPr>
        </p:nvSpPr>
        <p:spPr>
          <a:xfrm>
            <a:off x="822958" y="1787213"/>
            <a:ext cx="8196683" cy="4489229"/>
          </a:xfrm>
        </p:spPr>
        <p:txBody>
          <a:bodyPr>
            <a:noAutofit/>
          </a:bodyPr>
          <a:lstStyle/>
          <a:p>
            <a:r>
              <a:rPr lang="en-IN" sz="1400" dirty="0">
                <a:latin typeface="Aptos" panose="020B0004020202020204" pitchFamily="34" charset="0"/>
              </a:rPr>
              <a:t>The application follows a </a:t>
            </a:r>
            <a:r>
              <a:rPr lang="en-IN" sz="1400" b="1" dirty="0">
                <a:latin typeface="Aptos" panose="020B0004020202020204" pitchFamily="34" charset="0"/>
              </a:rPr>
              <a:t>modern full-stack architecture</a:t>
            </a:r>
            <a:r>
              <a:rPr lang="en-IN" sz="1400" dirty="0">
                <a:latin typeface="Aptos" panose="020B0004020202020204" pitchFamily="34" charset="0"/>
              </a:rPr>
              <a:t>.</a:t>
            </a:r>
          </a:p>
          <a:p>
            <a:r>
              <a:rPr lang="en-IN" sz="1400" b="1" u="sng" dirty="0">
                <a:latin typeface="Aptos" panose="020B0004020202020204" pitchFamily="34" charset="0"/>
              </a:rPr>
              <a:t>Frontend</a:t>
            </a:r>
          </a:p>
          <a:p>
            <a:r>
              <a:rPr lang="en-IN" sz="1400" dirty="0">
                <a:latin typeface="Aptos" panose="020B0004020202020204" pitchFamily="34" charset="0"/>
              </a:rPr>
              <a:t>• React + TypeScript</a:t>
            </a:r>
            <a:br>
              <a:rPr lang="en-IN" sz="1400" dirty="0">
                <a:latin typeface="Aptos" panose="020B0004020202020204" pitchFamily="34" charset="0"/>
              </a:rPr>
            </a:br>
            <a:r>
              <a:rPr lang="en-IN" sz="1400" dirty="0">
                <a:latin typeface="Aptos" panose="020B0004020202020204" pitchFamily="34" charset="0"/>
              </a:rPr>
              <a:t>• Tailwind CSS for UI styling</a:t>
            </a:r>
            <a:br>
              <a:rPr lang="en-IN" sz="1400" dirty="0">
                <a:latin typeface="Aptos" panose="020B0004020202020204" pitchFamily="34" charset="0"/>
              </a:rPr>
            </a:br>
            <a:r>
              <a:rPr lang="en-IN" sz="1400" dirty="0">
                <a:latin typeface="Aptos" panose="020B0004020202020204" pitchFamily="34" charset="0"/>
              </a:rPr>
              <a:t>• Chart.js for analytics visualization</a:t>
            </a:r>
          </a:p>
          <a:p>
            <a:r>
              <a:rPr lang="en-IN" sz="1400" b="1" u="sng" dirty="0">
                <a:latin typeface="Aptos" panose="020B0004020202020204" pitchFamily="34" charset="0"/>
              </a:rPr>
              <a:t>Backend</a:t>
            </a:r>
          </a:p>
          <a:p>
            <a:r>
              <a:rPr lang="en-IN" sz="1400" dirty="0">
                <a:latin typeface="Aptos" panose="020B0004020202020204" pitchFamily="34" charset="0"/>
              </a:rPr>
              <a:t>• Node.js with Express REST APIs</a:t>
            </a:r>
            <a:br>
              <a:rPr lang="en-IN" sz="1400" dirty="0">
                <a:latin typeface="Aptos" panose="020B0004020202020204" pitchFamily="34" charset="0"/>
              </a:rPr>
            </a:br>
            <a:r>
              <a:rPr lang="en-IN" sz="1400" dirty="0">
                <a:latin typeface="Aptos" panose="020B0004020202020204" pitchFamily="34" charset="0"/>
              </a:rPr>
              <a:t>• Controller → Service → Repository architecture</a:t>
            </a:r>
            <a:br>
              <a:rPr lang="en-IN" sz="1400" dirty="0">
                <a:latin typeface="Aptos" panose="020B0004020202020204" pitchFamily="34" charset="0"/>
              </a:rPr>
            </a:br>
            <a:r>
              <a:rPr lang="en-IN" sz="1400" dirty="0">
                <a:latin typeface="Aptos" panose="020B0004020202020204" pitchFamily="34" charset="0"/>
              </a:rPr>
              <a:t>• Prisma ORM for database operations</a:t>
            </a:r>
          </a:p>
          <a:p>
            <a:r>
              <a:rPr lang="en-IN" sz="1400" b="1" u="sng" dirty="0">
                <a:latin typeface="Aptos" panose="020B0004020202020204" pitchFamily="34" charset="0"/>
              </a:rPr>
              <a:t>Database</a:t>
            </a:r>
          </a:p>
          <a:p>
            <a:r>
              <a:rPr lang="en-IN" sz="1400" dirty="0">
                <a:latin typeface="Aptos" panose="020B0004020202020204" pitchFamily="34" charset="0"/>
              </a:rPr>
              <a:t>• PostgreSQL relational database</a:t>
            </a:r>
            <a:br>
              <a:rPr lang="en-IN" sz="1400" dirty="0">
                <a:latin typeface="Aptos" panose="020B0004020202020204" pitchFamily="34" charset="0"/>
              </a:rPr>
            </a:br>
            <a:r>
              <a:rPr lang="en-IN" sz="1400" dirty="0">
                <a:latin typeface="Aptos" panose="020B0004020202020204" pitchFamily="34" charset="0"/>
              </a:rPr>
              <a:t>• Multiple relational tables for partners, groups, appointments, and recurring meetings</a:t>
            </a:r>
          </a:p>
          <a:p>
            <a:r>
              <a:rPr lang="en-IN" sz="1400" b="1" u="sng" dirty="0">
                <a:latin typeface="Aptos" panose="020B0004020202020204" pitchFamily="34" charset="0"/>
              </a:rPr>
              <a:t>Additional Components</a:t>
            </a:r>
          </a:p>
          <a:p>
            <a:r>
              <a:rPr lang="en-IN" sz="1400" dirty="0">
                <a:latin typeface="Aptos" panose="020B0004020202020204" pitchFamily="34" charset="0"/>
              </a:rPr>
              <a:t>• JWT authentication</a:t>
            </a:r>
            <a:br>
              <a:rPr lang="en-IN" sz="1400" dirty="0">
                <a:latin typeface="Aptos" panose="020B0004020202020204" pitchFamily="34" charset="0"/>
              </a:rPr>
            </a:br>
            <a:r>
              <a:rPr lang="en-IN" sz="1400" dirty="0">
                <a:latin typeface="Aptos" panose="020B0004020202020204" pitchFamily="34" charset="0"/>
              </a:rPr>
              <a:t>• Cron jobs for recurring appointment generation</a:t>
            </a:r>
            <a:br>
              <a:rPr lang="en-IN" sz="1400" dirty="0">
                <a:latin typeface="Aptos" panose="020B0004020202020204" pitchFamily="34" charset="0"/>
              </a:rPr>
            </a:br>
            <a:r>
              <a:rPr lang="en-IN" sz="1400" dirty="0">
                <a:latin typeface="Aptos" panose="020B0004020202020204" pitchFamily="34" charset="0"/>
              </a:rPr>
              <a:t>• Swagger API documentation</a:t>
            </a:r>
          </a:p>
        </p:txBody>
      </p:sp>
      <p:pic>
        <p:nvPicPr>
          <p:cNvPr id="7" name="Graphic 6" descr="Web Design">
            <a:extLst>
              <a:ext uri="{FF2B5EF4-FFF2-40B4-BE49-F238E27FC236}">
                <a16:creationId xmlns:a16="http://schemas.microsoft.com/office/drawing/2014/main" id="{8B347D16-E8EA-8827-0F2B-3213DB0C62B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15427" y="2476158"/>
            <a:ext cx="2351332" cy="2351332"/>
          </a:xfrm>
          <a:prstGeom prst="rect">
            <a:avLst/>
          </a:prstGeom>
        </p:spPr>
      </p:pic>
    </p:spTree>
    <p:extLst>
      <p:ext uri="{BB962C8B-B14F-4D97-AF65-F5344CB8AC3E}">
        <p14:creationId xmlns:p14="http://schemas.microsoft.com/office/powerpoint/2010/main" val="1082639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BEFCC1-1FF5-53B0-0152-2D7E6D1A5BE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712377-2BDC-7FDC-1E23-A994E334DFD0}"/>
              </a:ext>
            </a:extLst>
          </p:cNvPr>
          <p:cNvSpPr>
            <a:spLocks noGrp="1"/>
          </p:cNvSpPr>
          <p:nvPr>
            <p:ph type="title"/>
          </p:nvPr>
        </p:nvSpPr>
        <p:spPr>
          <a:xfrm>
            <a:off x="3886200" y="634946"/>
            <a:ext cx="4776107" cy="1450757"/>
          </a:xfrm>
        </p:spPr>
        <p:txBody>
          <a:bodyPr>
            <a:normAutofit/>
          </a:bodyPr>
          <a:lstStyle/>
          <a:p>
            <a:r>
              <a:rPr lang="en-IN" b="1" dirty="0">
                <a:latin typeface="Aptos" panose="020B0004020202020204" pitchFamily="34" charset="0"/>
              </a:rPr>
              <a:t>Authentication &amp; Security</a:t>
            </a:r>
            <a:endParaRPr b="1" dirty="0">
              <a:latin typeface="Aptos" panose="020B0004020202020204" pitchFamily="34" charset="0"/>
            </a:endParaRPr>
          </a:p>
        </p:txBody>
      </p:sp>
      <p:pic>
        <p:nvPicPr>
          <p:cNvPr id="5" name="Picture 4" descr="Padlock on computer motherboard">
            <a:extLst>
              <a:ext uri="{FF2B5EF4-FFF2-40B4-BE49-F238E27FC236}">
                <a16:creationId xmlns:a16="http://schemas.microsoft.com/office/drawing/2014/main" id="{E734AB8F-ABC4-F4F1-6B10-020A03DD29BF}"/>
              </a:ext>
            </a:extLst>
          </p:cNvPr>
          <p:cNvPicPr>
            <a:picLocks noChangeAspect="1"/>
          </p:cNvPicPr>
          <p:nvPr/>
        </p:nvPicPr>
        <p:blipFill>
          <a:blip r:embed="rId2"/>
          <a:srcRect l="21365" r="44720" b="1"/>
          <a:stretch>
            <a:fillRect/>
          </a:stretch>
        </p:blipFill>
        <p:spPr>
          <a:xfrm>
            <a:off x="20" y="-12128"/>
            <a:ext cx="3490702" cy="6870127"/>
          </a:xfrm>
          <a:prstGeom prst="rect">
            <a:avLst/>
          </a:prstGeom>
        </p:spPr>
      </p:pic>
      <p:cxnSp>
        <p:nvCxnSpPr>
          <p:cNvPr id="13" name="Straight Connector 1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65712" y="2085703"/>
            <a:ext cx="4628015"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E0E1F5C-141E-30D7-3486-6D88DB4142AC}"/>
              </a:ext>
            </a:extLst>
          </p:cNvPr>
          <p:cNvSpPr>
            <a:spLocks noGrp="1"/>
          </p:cNvSpPr>
          <p:nvPr>
            <p:ph idx="1"/>
          </p:nvPr>
        </p:nvSpPr>
        <p:spPr>
          <a:xfrm>
            <a:off x="3886200" y="2198914"/>
            <a:ext cx="5257800" cy="4659086"/>
          </a:xfrm>
        </p:spPr>
        <p:txBody>
          <a:bodyPr>
            <a:normAutofit/>
          </a:bodyPr>
          <a:lstStyle/>
          <a:p>
            <a:r>
              <a:rPr lang="en-IN" sz="1600" dirty="0">
                <a:latin typeface="Aptos" panose="020B0004020202020204" pitchFamily="34" charset="0"/>
              </a:rPr>
              <a:t>Security is implemented using </a:t>
            </a:r>
            <a:r>
              <a:rPr lang="en-IN" sz="1600" b="1" dirty="0">
                <a:latin typeface="Aptos" panose="020B0004020202020204" pitchFamily="34" charset="0"/>
              </a:rPr>
              <a:t>JWT-based authentication</a:t>
            </a:r>
            <a:r>
              <a:rPr lang="en-IN" sz="1600" dirty="0">
                <a:latin typeface="Aptos" panose="020B0004020202020204" pitchFamily="34" charset="0"/>
              </a:rPr>
              <a:t>.</a:t>
            </a:r>
          </a:p>
          <a:p>
            <a:r>
              <a:rPr lang="en-IN" sz="1600" b="1" u="sng" dirty="0">
                <a:latin typeface="Aptos" panose="020B0004020202020204" pitchFamily="34" charset="0"/>
              </a:rPr>
              <a:t>Login System</a:t>
            </a:r>
          </a:p>
          <a:p>
            <a:r>
              <a:rPr lang="en-IN" sz="1600" dirty="0">
                <a:latin typeface="Aptos" panose="020B0004020202020204" pitchFamily="34" charset="0"/>
              </a:rPr>
              <a:t>• Email and password authentication</a:t>
            </a:r>
            <a:br>
              <a:rPr lang="en-IN" sz="1600" dirty="0">
                <a:latin typeface="Aptos" panose="020B0004020202020204" pitchFamily="34" charset="0"/>
              </a:rPr>
            </a:br>
            <a:r>
              <a:rPr lang="en-IN" sz="1600" dirty="0">
                <a:latin typeface="Aptos" panose="020B0004020202020204" pitchFamily="34" charset="0"/>
              </a:rPr>
              <a:t>• Tokens generated using </a:t>
            </a:r>
            <a:r>
              <a:rPr lang="en-IN" sz="1600" b="1" dirty="0">
                <a:latin typeface="Aptos" panose="020B0004020202020204" pitchFamily="34" charset="0"/>
              </a:rPr>
              <a:t>JSON Web Tokens</a:t>
            </a:r>
            <a:endParaRPr lang="en-IN" sz="1600" dirty="0">
              <a:latin typeface="Aptos" panose="020B0004020202020204" pitchFamily="34" charset="0"/>
            </a:endParaRPr>
          </a:p>
          <a:p>
            <a:r>
              <a:rPr lang="en-IN" sz="1600" b="1" u="sng" dirty="0">
                <a:latin typeface="Aptos" panose="020B0004020202020204" pitchFamily="34" charset="0"/>
              </a:rPr>
              <a:t>Password Security</a:t>
            </a:r>
          </a:p>
          <a:p>
            <a:r>
              <a:rPr lang="en-IN" sz="1600" dirty="0">
                <a:latin typeface="Aptos" panose="020B0004020202020204" pitchFamily="34" charset="0"/>
              </a:rPr>
              <a:t>• Passwords stored using </a:t>
            </a:r>
            <a:r>
              <a:rPr lang="en-IN" sz="1600" b="1" dirty="0" err="1">
                <a:latin typeface="Aptos" panose="020B0004020202020204" pitchFamily="34" charset="0"/>
              </a:rPr>
              <a:t>bcrypt</a:t>
            </a:r>
            <a:r>
              <a:rPr lang="en-IN" sz="1600" b="1" dirty="0">
                <a:latin typeface="Aptos" panose="020B0004020202020204" pitchFamily="34" charset="0"/>
              </a:rPr>
              <a:t> hashing</a:t>
            </a:r>
            <a:endParaRPr lang="en-IN" sz="1600" dirty="0">
              <a:latin typeface="Aptos" panose="020B0004020202020204" pitchFamily="34" charset="0"/>
            </a:endParaRPr>
          </a:p>
          <a:p>
            <a:r>
              <a:rPr lang="en-IN" sz="1600" b="1" u="sng" dirty="0">
                <a:latin typeface="Aptos" panose="020B0004020202020204" pitchFamily="34" charset="0"/>
              </a:rPr>
              <a:t>API Protection</a:t>
            </a:r>
          </a:p>
          <a:p>
            <a:r>
              <a:rPr lang="en-IN" sz="1600" dirty="0">
                <a:latin typeface="Aptos" panose="020B0004020202020204" pitchFamily="34" charset="0"/>
              </a:rPr>
              <a:t>• Middleware verifies tokens before API access</a:t>
            </a:r>
            <a:br>
              <a:rPr lang="en-IN" sz="1600" dirty="0">
                <a:latin typeface="Aptos" panose="020B0004020202020204" pitchFamily="34" charset="0"/>
              </a:rPr>
            </a:br>
            <a:r>
              <a:rPr lang="en-IN" sz="1600" dirty="0">
                <a:latin typeface="Aptos" panose="020B0004020202020204" pitchFamily="34" charset="0"/>
              </a:rPr>
              <a:t>• Protected frontend routes</a:t>
            </a:r>
          </a:p>
          <a:p>
            <a:r>
              <a:rPr lang="en-IN" sz="1600" b="1" u="sng" dirty="0">
                <a:latin typeface="Aptos" panose="020B0004020202020204" pitchFamily="34" charset="0"/>
              </a:rPr>
              <a:t>Additional Measures</a:t>
            </a:r>
          </a:p>
          <a:p>
            <a:r>
              <a:rPr lang="en-IN" sz="1600" dirty="0">
                <a:latin typeface="Aptos" panose="020B0004020202020204" pitchFamily="34" charset="0"/>
              </a:rPr>
              <a:t>• Controlled admin access</a:t>
            </a:r>
            <a:br>
              <a:rPr lang="en-IN" sz="1600" dirty="0">
                <a:latin typeface="Aptos" panose="020B0004020202020204" pitchFamily="34" charset="0"/>
              </a:rPr>
            </a:br>
            <a:r>
              <a:rPr lang="en-IN" sz="1600" dirty="0">
                <a:latin typeface="Aptos" panose="020B0004020202020204" pitchFamily="34" charset="0"/>
              </a:rPr>
              <a:t>• Consistent error handling</a:t>
            </a:r>
            <a:br>
              <a:rPr lang="en-IN" sz="1600" dirty="0">
                <a:latin typeface="Aptos" panose="020B0004020202020204" pitchFamily="34" charset="0"/>
              </a:rPr>
            </a:br>
            <a:r>
              <a:rPr lang="en-IN" sz="1600" dirty="0">
                <a:latin typeface="Aptos" panose="020B0004020202020204" pitchFamily="34" charset="0"/>
              </a:rPr>
              <a:t>• Protection against email enumeration</a:t>
            </a:r>
          </a:p>
        </p:txBody>
      </p:sp>
    </p:spTree>
    <p:extLst>
      <p:ext uri="{BB962C8B-B14F-4D97-AF65-F5344CB8AC3E}">
        <p14:creationId xmlns:p14="http://schemas.microsoft.com/office/powerpoint/2010/main" val="3992862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684474-4050-9152-8F71-FFE2A8EA2A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E3E712-C8DF-9D3E-7143-6F46BD5C4383}"/>
              </a:ext>
            </a:extLst>
          </p:cNvPr>
          <p:cNvSpPr>
            <a:spLocks noGrp="1"/>
          </p:cNvSpPr>
          <p:nvPr>
            <p:ph type="title"/>
          </p:nvPr>
        </p:nvSpPr>
        <p:spPr>
          <a:xfrm>
            <a:off x="822960" y="286603"/>
            <a:ext cx="7543800" cy="1450757"/>
          </a:xfrm>
        </p:spPr>
        <p:txBody>
          <a:bodyPr>
            <a:normAutofit/>
          </a:bodyPr>
          <a:lstStyle/>
          <a:p>
            <a:r>
              <a:rPr lang="en-US" b="1">
                <a:latin typeface="Aptos" panose="020B0004020202020204" pitchFamily="34" charset="0"/>
              </a:rPr>
              <a:t>Challenges Faced till Release 1</a:t>
            </a:r>
          </a:p>
        </p:txBody>
      </p:sp>
      <p:sp>
        <p:nvSpPr>
          <p:cNvPr id="3" name="Content Placeholder 2">
            <a:extLst>
              <a:ext uri="{FF2B5EF4-FFF2-40B4-BE49-F238E27FC236}">
                <a16:creationId xmlns:a16="http://schemas.microsoft.com/office/drawing/2014/main" id="{6636AB05-CA45-5D29-D185-F00F4851379F}"/>
              </a:ext>
            </a:extLst>
          </p:cNvPr>
          <p:cNvSpPr>
            <a:spLocks noGrp="1"/>
          </p:cNvSpPr>
          <p:nvPr>
            <p:ph idx="1"/>
          </p:nvPr>
        </p:nvSpPr>
        <p:spPr>
          <a:xfrm>
            <a:off x="822958" y="1845734"/>
            <a:ext cx="5285233" cy="4023360"/>
          </a:xfrm>
        </p:spPr>
        <p:txBody>
          <a:bodyPr>
            <a:normAutofit/>
          </a:bodyPr>
          <a:lstStyle/>
          <a:p>
            <a:pPr>
              <a:buFont typeface="Wingdings" panose="05000000000000000000" pitchFamily="2" charset="2"/>
              <a:buChar char="Ø"/>
            </a:pPr>
            <a:r>
              <a:rPr lang="en-US" sz="1600" dirty="0">
                <a:latin typeface="Aptos" panose="020B0004020202020204" pitchFamily="34" charset="0"/>
              </a:rPr>
              <a:t> Coordination and communication challenges within the team and with the client during development</a:t>
            </a:r>
          </a:p>
          <a:p>
            <a:pPr>
              <a:buFont typeface="Wingdings" panose="05000000000000000000" pitchFamily="2" charset="2"/>
              <a:buChar char="Ø"/>
            </a:pPr>
            <a:r>
              <a:rPr lang="en-US" sz="1600" dirty="0">
                <a:latin typeface="Aptos" panose="020B0004020202020204" pitchFamily="34" charset="0"/>
              </a:rPr>
              <a:t> Maintaining </a:t>
            </a:r>
            <a:r>
              <a:rPr lang="en-US" sz="1600" b="1" dirty="0">
                <a:latin typeface="Aptos" panose="020B0004020202020204" pitchFamily="34" charset="0"/>
              </a:rPr>
              <a:t>consistent understanding of requirements across the team</a:t>
            </a:r>
            <a:r>
              <a:rPr lang="en-US" sz="1600" dirty="0">
                <a:latin typeface="Aptos" panose="020B0004020202020204" pitchFamily="34" charset="0"/>
              </a:rPr>
              <a:t> during development</a:t>
            </a:r>
          </a:p>
          <a:p>
            <a:pPr>
              <a:buFont typeface="Wingdings" panose="05000000000000000000" pitchFamily="2" charset="2"/>
              <a:buChar char="Ø"/>
            </a:pPr>
            <a:r>
              <a:rPr lang="en-US" sz="1600" dirty="0">
                <a:latin typeface="Aptos" panose="020B0004020202020204" pitchFamily="34" charset="0"/>
              </a:rPr>
              <a:t> Difficulty designing the </a:t>
            </a:r>
            <a:r>
              <a:rPr lang="en-US" sz="1600" b="1" dirty="0">
                <a:latin typeface="Aptos" panose="020B0004020202020204" pitchFamily="34" charset="0"/>
              </a:rPr>
              <a:t>recurring appointment logic</a:t>
            </a:r>
            <a:r>
              <a:rPr lang="en-US" sz="1600" dirty="0">
                <a:latin typeface="Aptos" panose="020B0004020202020204" pitchFamily="34" charset="0"/>
              </a:rPr>
              <a:t>, requiring multiple discussions with the client</a:t>
            </a:r>
          </a:p>
          <a:p>
            <a:pPr>
              <a:buFont typeface="Wingdings" panose="05000000000000000000" pitchFamily="2" charset="2"/>
              <a:buChar char="Ø"/>
            </a:pPr>
            <a:r>
              <a:rPr lang="en-US" sz="1600" dirty="0">
                <a:latin typeface="Aptos" panose="020B0004020202020204" pitchFamily="34" charset="0"/>
              </a:rPr>
              <a:t> Converting the client’s </a:t>
            </a:r>
            <a:r>
              <a:rPr lang="en-US" sz="1600" b="1" dirty="0">
                <a:latin typeface="Aptos" panose="020B0004020202020204" pitchFamily="34" charset="0"/>
              </a:rPr>
              <a:t>informal requirement document into structured system requirements</a:t>
            </a:r>
          </a:p>
          <a:p>
            <a:pPr>
              <a:buFont typeface="Wingdings" panose="05000000000000000000" pitchFamily="2" charset="2"/>
              <a:buChar char="Ø"/>
            </a:pPr>
            <a:r>
              <a:rPr lang="en-US" sz="1600" dirty="0">
                <a:latin typeface="Aptos" panose="020B0004020202020204" pitchFamily="34" charset="0"/>
              </a:rPr>
              <a:t> Learning and evaluating the required </a:t>
            </a:r>
            <a:r>
              <a:rPr lang="en-US" sz="1600" b="1" dirty="0">
                <a:latin typeface="Aptos" panose="020B0004020202020204" pitchFamily="34" charset="0"/>
              </a:rPr>
              <a:t>technology stack</a:t>
            </a:r>
            <a:r>
              <a:rPr lang="en-US" sz="1600" dirty="0">
                <a:latin typeface="Aptos" panose="020B0004020202020204" pitchFamily="34" charset="0"/>
              </a:rPr>
              <a:t> during the development phase</a:t>
            </a:r>
          </a:p>
          <a:p>
            <a:pPr>
              <a:buFont typeface="Wingdings" panose="05000000000000000000" pitchFamily="2" charset="2"/>
              <a:buChar char="Ø"/>
            </a:pPr>
            <a:r>
              <a:rPr lang="en-US" sz="1600" dirty="0">
                <a:latin typeface="Aptos" panose="020B0004020202020204" pitchFamily="34" charset="0"/>
              </a:rPr>
              <a:t> Managing </a:t>
            </a:r>
            <a:r>
              <a:rPr lang="en-US" sz="1600" b="1" dirty="0">
                <a:latin typeface="Aptos" panose="020B0004020202020204" pitchFamily="34" charset="0"/>
              </a:rPr>
              <a:t>version control and code integration</a:t>
            </a:r>
            <a:r>
              <a:rPr lang="en-US" sz="1600" dirty="0">
                <a:latin typeface="Aptos" panose="020B0004020202020204" pitchFamily="34" charset="0"/>
              </a:rPr>
              <a:t> when multiple team members worked on different modules</a:t>
            </a:r>
          </a:p>
          <a:p>
            <a:pPr>
              <a:buFont typeface="Arial" panose="020B0604020202020204" pitchFamily="34" charset="0"/>
              <a:buChar char="•"/>
            </a:pPr>
            <a:endParaRPr lang="en-US" sz="1600" dirty="0"/>
          </a:p>
        </p:txBody>
      </p:sp>
      <p:pic>
        <p:nvPicPr>
          <p:cNvPr id="7" name="Graphic 6" descr="Backlog">
            <a:extLst>
              <a:ext uri="{FF2B5EF4-FFF2-40B4-BE49-F238E27FC236}">
                <a16:creationId xmlns:a16="http://schemas.microsoft.com/office/drawing/2014/main" id="{624F6C77-65BA-0A6D-AA9A-C719A2365CB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15427" y="2476158"/>
            <a:ext cx="2351332" cy="2351332"/>
          </a:xfrm>
          <a:prstGeom prst="rect">
            <a:avLst/>
          </a:prstGeom>
        </p:spPr>
      </p:pic>
    </p:spTree>
    <p:extLst>
      <p:ext uri="{BB962C8B-B14F-4D97-AF65-F5344CB8AC3E}">
        <p14:creationId xmlns:p14="http://schemas.microsoft.com/office/powerpoint/2010/main" val="1270510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6B4D78-21ED-3255-E239-EBBFCE62148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52C0B2E1-0268-42EC-ABD3-94F81A05B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3" name="Rectangle 12">
            <a:extLst>
              <a:ext uri="{FF2B5EF4-FFF2-40B4-BE49-F238E27FC236}">
                <a16:creationId xmlns:a16="http://schemas.microsoft.com/office/drawing/2014/main" id="{7D2256B4-48EA-40FC-BBC0-AA1EE6E00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15" name="Straight Connector 14">
            <a:extLst>
              <a:ext uri="{FF2B5EF4-FFF2-40B4-BE49-F238E27FC236}">
                <a16:creationId xmlns:a16="http://schemas.microsoft.com/office/drawing/2014/main" id="{3D44BCCA-102D-4A9D-B1E4-2450CAF0B0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05743"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CEBA30-3BE9-99DF-7D7E-C3C827EFB974}"/>
              </a:ext>
            </a:extLst>
          </p:cNvPr>
          <p:cNvSpPr>
            <a:spLocks noGrp="1"/>
          </p:cNvSpPr>
          <p:nvPr>
            <p:ph type="title"/>
          </p:nvPr>
        </p:nvSpPr>
        <p:spPr>
          <a:xfrm>
            <a:off x="822960" y="758952"/>
            <a:ext cx="7543800" cy="3892168"/>
          </a:xfrm>
        </p:spPr>
        <p:txBody>
          <a:bodyPr vert="horz" lIns="91440" tIns="45720" rIns="91440" bIns="45720" rtlCol="0" anchor="b">
            <a:normAutofit/>
          </a:bodyPr>
          <a:lstStyle/>
          <a:p>
            <a:r>
              <a:rPr lang="en-US" sz="7200" b="1" u="sng" dirty="0">
                <a:solidFill>
                  <a:schemeClr val="tx1">
                    <a:lumMod val="85000"/>
                    <a:lumOff val="15000"/>
                  </a:schemeClr>
                </a:solidFill>
                <a:latin typeface="Aptos" panose="020B0004020202020204" pitchFamily="34" charset="0"/>
              </a:rPr>
              <a:t>Demo Walkthrough</a:t>
            </a:r>
          </a:p>
        </p:txBody>
      </p:sp>
      <p:sp>
        <p:nvSpPr>
          <p:cNvPr id="19" name="Rectangle 1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30" y="4953000"/>
            <a:ext cx="9141714"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1" name="Rectangle 20">
            <a:extLst>
              <a:ext uri="{FF2B5EF4-FFF2-40B4-BE49-F238E27FC236}">
                <a16:creationId xmlns:a16="http://schemas.microsoft.com/office/drawing/2014/main" id="{1F3985C0-E548-44D2-B30E-F3E42DADE1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0" y="4906176"/>
            <a:ext cx="9141714"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10688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9B460B-FED5-879B-F2C5-EDE77A249F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8A8FFF-F2CD-0111-1CEC-7F0B975E0CF5}"/>
              </a:ext>
            </a:extLst>
          </p:cNvPr>
          <p:cNvSpPr>
            <a:spLocks noGrp="1"/>
          </p:cNvSpPr>
          <p:nvPr>
            <p:ph type="title"/>
          </p:nvPr>
        </p:nvSpPr>
        <p:spPr>
          <a:xfrm>
            <a:off x="822960" y="286603"/>
            <a:ext cx="7543800" cy="1450757"/>
          </a:xfrm>
        </p:spPr>
        <p:txBody>
          <a:bodyPr>
            <a:normAutofit/>
          </a:bodyPr>
          <a:lstStyle/>
          <a:p>
            <a:r>
              <a:rPr lang="en-IN" b="1" dirty="0">
                <a:latin typeface="Aptos" panose="020B0004020202020204" pitchFamily="34" charset="0"/>
              </a:rPr>
              <a:t>Future Work (Release 2)</a:t>
            </a:r>
            <a:endParaRPr b="1" dirty="0">
              <a:latin typeface="Aptos" panose="020B0004020202020204" pitchFamily="34" charset="0"/>
            </a:endParaRPr>
          </a:p>
        </p:txBody>
      </p:sp>
      <p:sp>
        <p:nvSpPr>
          <p:cNvPr id="3" name="Content Placeholder 2">
            <a:extLst>
              <a:ext uri="{FF2B5EF4-FFF2-40B4-BE49-F238E27FC236}">
                <a16:creationId xmlns:a16="http://schemas.microsoft.com/office/drawing/2014/main" id="{DB5AB00B-9742-9B66-4025-82CD441707EB}"/>
              </a:ext>
            </a:extLst>
          </p:cNvPr>
          <p:cNvSpPr>
            <a:spLocks noGrp="1"/>
          </p:cNvSpPr>
          <p:nvPr>
            <p:ph idx="1"/>
          </p:nvPr>
        </p:nvSpPr>
        <p:spPr>
          <a:xfrm>
            <a:off x="822959" y="1845733"/>
            <a:ext cx="5387646" cy="4430709"/>
          </a:xfrm>
        </p:spPr>
        <p:txBody>
          <a:bodyPr>
            <a:normAutofit/>
          </a:bodyPr>
          <a:lstStyle/>
          <a:p>
            <a:r>
              <a:rPr lang="en-US" sz="1700" dirty="0">
                <a:latin typeface="Aptos" panose="020B0004020202020204" pitchFamily="34" charset="0"/>
              </a:rPr>
              <a:t>In the next phase, we will focus on completing the system delivery and preparing for the next release.</a:t>
            </a:r>
          </a:p>
          <a:p>
            <a:pPr>
              <a:buFont typeface="Wingdings" panose="05000000000000000000" pitchFamily="2" charset="2"/>
              <a:buChar char="Ø"/>
            </a:pPr>
            <a:r>
              <a:rPr lang="en-US" sz="1700" dirty="0">
                <a:latin typeface="Aptos" panose="020B0004020202020204" pitchFamily="34" charset="0"/>
              </a:rPr>
              <a:t> Perform </a:t>
            </a:r>
            <a:r>
              <a:rPr lang="en-US" sz="1700" b="1" dirty="0">
                <a:latin typeface="Aptos" panose="020B0004020202020204" pitchFamily="34" charset="0"/>
              </a:rPr>
              <a:t>rigorous integration testing</a:t>
            </a:r>
            <a:r>
              <a:rPr lang="en-US" sz="1700" dirty="0">
                <a:latin typeface="Aptos" panose="020B0004020202020204" pitchFamily="34" charset="0"/>
              </a:rPr>
              <a:t> to ensure system stability</a:t>
            </a:r>
          </a:p>
          <a:p>
            <a:pPr>
              <a:buFont typeface="Wingdings" panose="05000000000000000000" pitchFamily="2" charset="2"/>
              <a:buChar char="Ø"/>
            </a:pPr>
            <a:r>
              <a:rPr lang="en-US" sz="1700" dirty="0">
                <a:latin typeface="Aptos" panose="020B0004020202020204" pitchFamily="34" charset="0"/>
              </a:rPr>
              <a:t> Conduct </a:t>
            </a:r>
            <a:r>
              <a:rPr lang="en-US" sz="1700" b="1" dirty="0">
                <a:latin typeface="Aptos" panose="020B0004020202020204" pitchFamily="34" charset="0"/>
              </a:rPr>
              <a:t>System Acceptance Testing</a:t>
            </a:r>
            <a:r>
              <a:rPr lang="en-US" sz="1700" dirty="0">
                <a:latin typeface="Aptos" panose="020B0004020202020204" pitchFamily="34" charset="0"/>
              </a:rPr>
              <a:t> and </a:t>
            </a:r>
            <a:r>
              <a:rPr lang="en-US" sz="1700" b="1" dirty="0">
                <a:latin typeface="Aptos" panose="020B0004020202020204" pitchFamily="34" charset="0"/>
              </a:rPr>
              <a:t>Client Acceptance Testing</a:t>
            </a:r>
          </a:p>
          <a:p>
            <a:pPr>
              <a:buFont typeface="Wingdings" panose="05000000000000000000" pitchFamily="2" charset="2"/>
              <a:buChar char="Ø"/>
            </a:pPr>
            <a:r>
              <a:rPr lang="en-US" sz="1700" b="1" dirty="0">
                <a:latin typeface="Aptos" panose="020B0004020202020204" pitchFamily="34" charset="0"/>
              </a:rPr>
              <a:t> Deploy the application</a:t>
            </a:r>
            <a:r>
              <a:rPr lang="en-US" sz="1700" dirty="0">
                <a:latin typeface="Aptos" panose="020B0004020202020204" pitchFamily="34" charset="0"/>
              </a:rPr>
              <a:t> and hand over the system for real usage</a:t>
            </a:r>
          </a:p>
          <a:p>
            <a:pPr>
              <a:buFont typeface="Wingdings" panose="05000000000000000000" pitchFamily="2" charset="2"/>
              <a:buChar char="Ø"/>
            </a:pPr>
            <a:r>
              <a:rPr lang="en-US" sz="1700" b="1" dirty="0">
                <a:latin typeface="Aptos" panose="020B0004020202020204" pitchFamily="34" charset="0"/>
              </a:rPr>
              <a:t> Observe system usage</a:t>
            </a:r>
            <a:r>
              <a:rPr lang="en-US" sz="1700" dirty="0">
                <a:latin typeface="Aptos" panose="020B0004020202020204" pitchFamily="34" charset="0"/>
              </a:rPr>
              <a:t> and collect feedback from the users</a:t>
            </a:r>
          </a:p>
          <a:p>
            <a:pPr>
              <a:buFont typeface="Wingdings" panose="05000000000000000000" pitchFamily="2" charset="2"/>
              <a:buChar char="Ø"/>
            </a:pPr>
            <a:r>
              <a:rPr lang="en-US" sz="1700" dirty="0">
                <a:latin typeface="Aptos" panose="020B0004020202020204" pitchFamily="34" charset="0"/>
              </a:rPr>
              <a:t> Gather </a:t>
            </a:r>
            <a:r>
              <a:rPr lang="en-US" sz="1700" b="1" dirty="0">
                <a:latin typeface="Aptos" panose="020B0004020202020204" pitchFamily="34" charset="0"/>
              </a:rPr>
              <a:t>new requirements (which also include feedbacks from Release 1) for Release 2</a:t>
            </a:r>
            <a:r>
              <a:rPr lang="en-US" sz="1700" dirty="0">
                <a:latin typeface="Aptos" panose="020B0004020202020204" pitchFamily="34" charset="0"/>
              </a:rPr>
              <a:t> and begin a </a:t>
            </a:r>
            <a:r>
              <a:rPr lang="en-US" sz="1700" b="1" dirty="0">
                <a:latin typeface="Aptos" panose="020B0004020202020204" pitchFamily="34" charset="0"/>
              </a:rPr>
              <a:t>new SDLC cycle</a:t>
            </a:r>
            <a:endParaRPr lang="en-US" sz="1700" dirty="0">
              <a:latin typeface="Aptos" panose="020B0004020202020204" pitchFamily="34" charset="0"/>
            </a:endParaRPr>
          </a:p>
        </p:txBody>
      </p:sp>
      <p:pic>
        <p:nvPicPr>
          <p:cNvPr id="7" name="Graphic 6" descr="Workflow">
            <a:extLst>
              <a:ext uri="{FF2B5EF4-FFF2-40B4-BE49-F238E27FC236}">
                <a16:creationId xmlns:a16="http://schemas.microsoft.com/office/drawing/2014/main" id="{74903A6D-98BC-8580-6913-6E38A0A670C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15427" y="2476158"/>
            <a:ext cx="2351332" cy="2351332"/>
          </a:xfrm>
          <a:prstGeom prst="rect">
            <a:avLst/>
          </a:prstGeom>
        </p:spPr>
      </p:pic>
    </p:spTree>
    <p:extLst>
      <p:ext uri="{BB962C8B-B14F-4D97-AF65-F5344CB8AC3E}">
        <p14:creationId xmlns:p14="http://schemas.microsoft.com/office/powerpoint/2010/main" val="750227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p:cNvGrpSpPr/>
        <p:nvPr/>
      </p:nvGrpSpPr>
      <p:grpSpPr>
        <a:xfrm>
          <a:off x="0" y="0"/>
          <a:ext cx="0" cy="0"/>
          <a:chOff x="0" y="0"/>
          <a:chExt cx="0" cy="0"/>
        </a:xfrm>
      </p:grpSpPr>
      <p:pic>
        <p:nvPicPr>
          <p:cNvPr id="5" name="Picture 4" descr="Question marks in a line and one question mark is lit">
            <a:extLst>
              <a:ext uri="{FF2B5EF4-FFF2-40B4-BE49-F238E27FC236}">
                <a16:creationId xmlns:a16="http://schemas.microsoft.com/office/drawing/2014/main" id="{553E29BA-6B58-B061-8578-C5B42EB5A98A}"/>
              </a:ext>
            </a:extLst>
          </p:cNvPr>
          <p:cNvPicPr>
            <a:picLocks noChangeAspect="1"/>
          </p:cNvPicPr>
          <p:nvPr/>
        </p:nvPicPr>
        <p:blipFill>
          <a:blip r:embed="rId2">
            <a:alphaModFix amt="35000"/>
          </a:blip>
          <a:srcRect r="10999" b="-1"/>
          <a:stretch>
            <a:fillRect/>
          </a:stretch>
        </p:blipFill>
        <p:spPr>
          <a:xfrm>
            <a:off x="20" y="10"/>
            <a:ext cx="9143980" cy="6857990"/>
          </a:xfrm>
          <a:prstGeom prst="rect">
            <a:avLst/>
          </a:prstGeom>
        </p:spPr>
      </p:pic>
      <p:cxnSp>
        <p:nvCxnSpPr>
          <p:cNvPr id="9" name="Straight Connector 8">
            <a:extLst>
              <a:ext uri="{FF2B5EF4-FFF2-40B4-BE49-F238E27FC236}">
                <a16:creationId xmlns:a16="http://schemas.microsoft.com/office/drawing/2014/main" id="{45549E29-E797-4A00-B030-3AB01640CFD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149" y="1737845"/>
            <a:ext cx="747522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822960" y="286603"/>
            <a:ext cx="7543800" cy="1450757"/>
          </a:xfrm>
        </p:spPr>
        <p:txBody>
          <a:bodyPr>
            <a:normAutofit/>
          </a:bodyPr>
          <a:lstStyle/>
          <a:p>
            <a:r>
              <a:rPr lang="en-IN" b="1" u="sng" dirty="0">
                <a:solidFill>
                  <a:schemeClr val="tx1"/>
                </a:solidFill>
                <a:latin typeface="Aptos" panose="020B0004020202020204" pitchFamily="34" charset="0"/>
              </a:rPr>
              <a:t>THANK YOU</a:t>
            </a:r>
          </a:p>
        </p:txBody>
      </p:sp>
      <p:sp>
        <p:nvSpPr>
          <p:cNvPr id="3" name="Content Placeholder 2"/>
          <p:cNvSpPr>
            <a:spLocks noGrp="1"/>
          </p:cNvSpPr>
          <p:nvPr>
            <p:ph idx="1"/>
          </p:nvPr>
        </p:nvSpPr>
        <p:spPr>
          <a:xfrm>
            <a:off x="822960" y="1845734"/>
            <a:ext cx="7543800" cy="4023360"/>
          </a:xfrm>
        </p:spPr>
        <p:txBody>
          <a:bodyPr>
            <a:normAutofit/>
          </a:bodyPr>
          <a:lstStyle/>
          <a:p>
            <a:pPr marL="0" indent="0">
              <a:buNone/>
            </a:pPr>
            <a:endParaRPr lang="en-IN" dirty="0">
              <a:solidFill>
                <a:schemeClr val="tx1"/>
              </a:solidFill>
            </a:endParaRPr>
          </a:p>
          <a:p>
            <a:r>
              <a:rPr lang="en-IN" sz="2400" b="1" dirty="0">
                <a:solidFill>
                  <a:schemeClr val="tx1"/>
                </a:solidFill>
                <a:latin typeface="Aptos" panose="020B0004020202020204" pitchFamily="34" charset="0"/>
              </a:rPr>
              <a:t>Questions?</a:t>
            </a:r>
          </a:p>
        </p:txBody>
      </p:sp>
      <p:sp>
        <p:nvSpPr>
          <p:cNvPr id="11" name="Rectangle 10">
            <a:extLst>
              <a:ext uri="{FF2B5EF4-FFF2-40B4-BE49-F238E27FC236}">
                <a16:creationId xmlns:a16="http://schemas.microsoft.com/office/drawing/2014/main" id="{C609E9FA-BDDE-45C4-8F5E-974D4208D2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3989"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3" name="Rectangle 12">
            <a:extLst>
              <a:ext uri="{FF2B5EF4-FFF2-40B4-BE49-F238E27FC236}">
                <a16:creationId xmlns:a16="http://schemas.microsoft.com/office/drawing/2014/main" id="{7737E529-E43B-4948-B3C4-7F6B806FCC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105</TotalTime>
  <Words>1233</Words>
  <Application>Microsoft Office PowerPoint</Application>
  <PresentationFormat>On-screen Show (4:3)</PresentationFormat>
  <Paragraphs>123</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Retrospect</vt:lpstr>
      <vt:lpstr>SVP Partner Engagement &amp; Analytics Dashboard</vt:lpstr>
      <vt:lpstr>What is SVP?</vt:lpstr>
      <vt:lpstr>Problem Statement</vt:lpstr>
      <vt:lpstr>Client Expectations</vt:lpstr>
      <vt:lpstr>Our Solution</vt:lpstr>
      <vt:lpstr>Partner &amp; Investee Management</vt:lpstr>
      <vt:lpstr>Group Management </vt:lpstr>
      <vt:lpstr>Appointment Scheduling</vt:lpstr>
      <vt:lpstr>Recurring Appointments (Core Feature)</vt:lpstr>
      <vt:lpstr>Analytics Dashboard</vt:lpstr>
      <vt:lpstr>Progress So Far (Release 1)</vt:lpstr>
      <vt:lpstr>System Architecture</vt:lpstr>
      <vt:lpstr>Authentication &amp; Security</vt:lpstr>
      <vt:lpstr>Challenges Faced till Release 1</vt:lpstr>
      <vt:lpstr>Demo Walkthrough</vt:lpstr>
      <vt:lpstr>Future Work (Release 2)</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Prashant Vinod</dc:creator>
  <cp:keywords/>
  <dc:description>generated using python-pptx</dc:description>
  <cp:lastModifiedBy>Prashant Vinod</cp:lastModifiedBy>
  <cp:revision>7</cp:revision>
  <dcterms:created xsi:type="dcterms:W3CDTF">2013-01-27T09:14:16Z</dcterms:created>
  <dcterms:modified xsi:type="dcterms:W3CDTF">2026-03-10T03:54:10Z</dcterms:modified>
  <cp:category/>
</cp:coreProperties>
</file>